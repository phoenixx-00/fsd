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embeddedFontLst>
    <p:embeddedFont>
      <p:font typeface="Cambria" panose="02040503050406030204" pitchFamily="18" charset="0"/>
      <p:regular r:id="rId11"/>
      <p:bold r:id="rId12"/>
      <p:italic r:id="rId13"/>
      <p:boldItalic r:id="rId14"/>
    </p:embeddedFont>
    <p:embeddedFont>
      <p:font typeface="Helvetica Neue" panose="020B0604020202020204"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1" name="Google Shape;9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101" name="Google Shape;10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108" name="Google Shape;10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116" name="Google Shape;11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128" name="Google Shape;12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135" name="Google Shape;13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142" name="Google Shape;14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150" name="Google Shape;15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9" name="Google Shape;19;p2"/>
          <p:cNvPicPr preferRelativeResize="0"/>
          <p:nvPr/>
        </p:nvPicPr>
        <p:blipFill rotWithShape="1">
          <a:blip r:embed="rId2">
            <a:alphaModFix/>
          </a:blip>
          <a:srcRect/>
          <a:stretch/>
        </p:blipFill>
        <p:spPr>
          <a:xfrm>
            <a:off x="10982821" y="0"/>
            <a:ext cx="1145507" cy="124395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s slide layout">
  <p:cSld name="Contents slide layout">
    <p:spTree>
      <p:nvGrpSpPr>
        <p:cNvPr id="1" name="Shape 20"/>
        <p:cNvGrpSpPr/>
        <p:nvPr/>
      </p:nvGrpSpPr>
      <p:grpSpPr>
        <a:xfrm>
          <a:off x="0" y="0"/>
          <a:ext cx="0" cy="0"/>
          <a:chOff x="0" y="0"/>
          <a:chExt cx="0" cy="0"/>
        </a:xfrm>
      </p:grpSpPr>
      <p:sp>
        <p:nvSpPr>
          <p:cNvPr id="21" name="Google Shape;21;p3"/>
          <p:cNvSpPr txBox="1">
            <a:spLocks noGrp="1"/>
          </p:cNvSpPr>
          <p:nvPr>
            <p:ph type="body" idx="1"/>
          </p:nvPr>
        </p:nvSpPr>
        <p:spPr>
          <a:xfrm>
            <a:off x="323529" y="339509"/>
            <a:ext cx="11573197" cy="724247"/>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rgbClr val="262626"/>
              </a:buClr>
              <a:buSzPts val="5400"/>
              <a:buNone/>
              <a:defRPr sz="5400" b="0">
                <a:solidFill>
                  <a:srgbClr val="262626"/>
                </a:solidFill>
                <a:latin typeface="Calibri"/>
                <a:ea typeface="Calibri"/>
                <a:cs typeface="Calibri"/>
                <a:sym typeface="Calibri"/>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22" name="Google Shape;22;p3"/>
          <p:cNvPicPr preferRelativeResize="0"/>
          <p:nvPr/>
        </p:nvPicPr>
        <p:blipFill rotWithShape="1">
          <a:blip r:embed="rId2">
            <a:alphaModFix/>
          </a:blip>
          <a:srcRect/>
          <a:stretch/>
        </p:blipFill>
        <p:spPr>
          <a:xfrm>
            <a:off x="11001829" y="0"/>
            <a:ext cx="1126499" cy="1243953"/>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d slide layout">
  <p:cSld name="End slide layout">
    <p:spTree>
      <p:nvGrpSpPr>
        <p:cNvPr id="1" name="Shape 23"/>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4"/>
        <p:cNvGrpSpPr/>
        <p:nvPr/>
      </p:nvGrpSpPr>
      <p:grpSpPr>
        <a:xfrm>
          <a:off x="0" y="0"/>
          <a:ext cx="0" cy="0"/>
          <a:chOff x="0" y="0"/>
          <a:chExt cx="0" cy="0"/>
        </a:xfrm>
      </p:grpSpPr>
      <p:sp>
        <p:nvSpPr>
          <p:cNvPr id="25" name="Google Shape;25;p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7" name="Google Shape;2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9" name="Google Shape;39;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9"/>
        <p:cNvGrpSpPr/>
        <p:nvPr/>
      </p:nvGrpSpPr>
      <p:grpSpPr>
        <a:xfrm>
          <a:off x="0" y="0"/>
          <a:ext cx="0" cy="0"/>
          <a:chOff x="0" y="0"/>
          <a:chExt cx="0" cy="0"/>
        </a:xfrm>
      </p:grpSpPr>
      <p:sp>
        <p:nvSpPr>
          <p:cNvPr id="50" name="Google Shape;50;p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8"/>
        <p:cNvGrpSpPr/>
        <p:nvPr/>
      </p:nvGrpSpPr>
      <p:grpSpPr>
        <a:xfrm>
          <a:off x="0" y="0"/>
          <a:ext cx="0" cy="0"/>
          <a:chOff x="0" y="0"/>
          <a:chExt cx="0" cy="0"/>
        </a:xfrm>
      </p:grpSpPr>
      <p:sp>
        <p:nvSpPr>
          <p:cNvPr id="59" name="Google Shape;59;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3"/>
        <p:cNvGrpSpPr/>
        <p:nvPr/>
      </p:nvGrpSpPr>
      <p:grpSpPr>
        <a:xfrm>
          <a:off x="0" y="0"/>
          <a:ext cx="0" cy="0"/>
          <a:chOff x="0" y="0"/>
          <a:chExt cx="0" cy="0"/>
        </a:xfrm>
      </p:grpSpPr>
      <p:sp>
        <p:nvSpPr>
          <p:cNvPr id="64" name="Google Shape;64;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1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6" name="Google Shape;66;p1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7" name="Google Shape;67;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0"/>
        <p:cNvGrpSpPr/>
        <p:nvPr/>
      </p:nvGrpSpPr>
      <p:grpSpPr>
        <a:xfrm>
          <a:off x="0" y="0"/>
          <a:ext cx="0" cy="0"/>
          <a:chOff x="0" y="0"/>
          <a:chExt cx="0" cy="0"/>
        </a:xfrm>
      </p:grpSpPr>
      <p:sp>
        <p:nvSpPr>
          <p:cNvPr id="71" name="Google Shape;71;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2"/>
          <p:cNvSpPr>
            <a:spLocks noGrp="1"/>
          </p:cNvSpPr>
          <p:nvPr>
            <p:ph type="pic" idx="2"/>
          </p:nvPr>
        </p:nvSpPr>
        <p:spPr>
          <a:xfrm>
            <a:off x="5183188" y="987425"/>
            <a:ext cx="6172200" cy="4873625"/>
          </a:xfrm>
          <a:prstGeom prst="rect">
            <a:avLst/>
          </a:prstGeom>
          <a:noFill/>
          <a:ln>
            <a:noFill/>
          </a:ln>
        </p:spPr>
      </p:sp>
      <p:sp>
        <p:nvSpPr>
          <p:cNvPr id="73" name="Google Shape;73;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4" name="Google Shape;74;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7"/>
        <p:cNvGrpSpPr/>
        <p:nvPr/>
      </p:nvGrpSpPr>
      <p:grpSpPr>
        <a:xfrm>
          <a:off x="0" y="0"/>
          <a:ext cx="0" cy="0"/>
          <a:chOff x="0" y="0"/>
          <a:chExt cx="0" cy="0"/>
        </a:xfrm>
      </p:grpSpPr>
      <p:sp>
        <p:nvSpPr>
          <p:cNvPr id="78" name="Google Shape;78;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3"/>
        <p:cNvGrpSpPr/>
        <p:nvPr/>
      </p:nvGrpSpPr>
      <p:grpSpPr>
        <a:xfrm>
          <a:off x="0" y="0"/>
          <a:ext cx="0" cy="0"/>
          <a:chOff x="0" y="0"/>
          <a:chExt cx="0" cy="0"/>
        </a:xfrm>
      </p:grpSpPr>
      <p:sp>
        <p:nvSpPr>
          <p:cNvPr id="84" name="Google Shape;84;p1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5">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5"/>
          <p:cNvSpPr txBox="1"/>
          <p:nvPr/>
        </p:nvSpPr>
        <p:spPr>
          <a:xfrm>
            <a:off x="1058099" y="1762649"/>
            <a:ext cx="10075800" cy="443198"/>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1800"/>
              <a:buFont typeface="Arial"/>
              <a:buNone/>
            </a:pPr>
            <a:r>
              <a:rPr lang="en-US" sz="3200" b="1" i="0" u="none" strike="noStrike" cap="none" dirty="0">
                <a:solidFill>
                  <a:srgbClr val="002060"/>
                </a:solidFill>
                <a:latin typeface="Helvetica Neue"/>
                <a:ea typeface="Helvetica Neue"/>
                <a:cs typeface="Helvetica Neue"/>
                <a:sym typeface="Helvetica Neue"/>
              </a:rPr>
              <a:t>School of Computer Science and Engineering</a:t>
            </a:r>
            <a:endParaRPr sz="3200" b="1" i="0" u="none" strike="noStrike" cap="none" dirty="0">
              <a:solidFill>
                <a:srgbClr val="002060"/>
              </a:solidFill>
              <a:latin typeface="Helvetica Neue"/>
              <a:ea typeface="Helvetica Neue"/>
              <a:cs typeface="Helvetica Neue"/>
              <a:sym typeface="Helvetica Neue"/>
            </a:endParaRPr>
          </a:p>
        </p:txBody>
      </p:sp>
      <p:sp>
        <p:nvSpPr>
          <p:cNvPr id="94" name="Google Shape;94;p15"/>
          <p:cNvSpPr txBox="1"/>
          <p:nvPr/>
        </p:nvSpPr>
        <p:spPr>
          <a:xfrm>
            <a:off x="2467931" y="2507109"/>
            <a:ext cx="7256135" cy="775597"/>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1800"/>
              <a:buFont typeface="Arial"/>
              <a:buNone/>
            </a:pPr>
            <a:r>
              <a:rPr lang="en-US" sz="2800" b="1" i="0" u="none" strike="noStrike" cap="none">
                <a:solidFill>
                  <a:srgbClr val="002060"/>
                </a:solidFill>
                <a:latin typeface="Helvetica Neue"/>
                <a:ea typeface="Helvetica Neue"/>
                <a:cs typeface="Helvetica Neue"/>
                <a:sym typeface="Helvetica Neue"/>
              </a:rPr>
              <a:t>Department  of Computer Engineering and Technology (DCET)</a:t>
            </a:r>
            <a:endParaRPr sz="2800" b="1" i="0" u="none" strike="noStrike" cap="none">
              <a:solidFill>
                <a:srgbClr val="002060"/>
              </a:solidFill>
              <a:latin typeface="Helvetica Neue"/>
              <a:ea typeface="Helvetica Neue"/>
              <a:cs typeface="Helvetica Neue"/>
              <a:sym typeface="Helvetica Neue"/>
            </a:endParaRPr>
          </a:p>
        </p:txBody>
      </p:sp>
      <p:pic>
        <p:nvPicPr>
          <p:cNvPr id="95" name="Google Shape;95;p15"/>
          <p:cNvPicPr preferRelativeResize="0"/>
          <p:nvPr/>
        </p:nvPicPr>
        <p:blipFill rotWithShape="1">
          <a:blip r:embed="rId3">
            <a:alphaModFix/>
          </a:blip>
          <a:srcRect/>
          <a:stretch/>
        </p:blipFill>
        <p:spPr>
          <a:xfrm>
            <a:off x="3789624" y="100140"/>
            <a:ext cx="4221754" cy="1301708"/>
          </a:xfrm>
          <a:prstGeom prst="rect">
            <a:avLst/>
          </a:prstGeom>
          <a:noFill/>
          <a:ln>
            <a:noFill/>
          </a:ln>
        </p:spPr>
      </p:pic>
      <p:sp>
        <p:nvSpPr>
          <p:cNvPr id="96" name="Google Shape;9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88888"/>
              </a:buClr>
              <a:buSzPts val="1200"/>
              <a:buFont typeface="Calibri"/>
              <a:buNone/>
            </a:pPr>
            <a:fld id="{00000000-1234-1234-1234-123412341234}" type="slidenum">
              <a:rPr lang="en-US" sz="1200" b="0" i="0" u="none" strike="noStrike" cap="none">
                <a:solidFill>
                  <a:srgbClr val="888888"/>
                </a:solidFill>
                <a:latin typeface="Calibri"/>
                <a:ea typeface="Calibri"/>
                <a:cs typeface="Calibri"/>
                <a:sym typeface="Calibri"/>
              </a:rPr>
              <a:t>1</a:t>
            </a:fld>
            <a:endParaRPr sz="1200" b="0" i="0" u="none" strike="noStrike" cap="none">
              <a:solidFill>
                <a:srgbClr val="888888"/>
              </a:solidFill>
              <a:latin typeface="Calibri"/>
              <a:ea typeface="Calibri"/>
              <a:cs typeface="Calibri"/>
              <a:sym typeface="Calibri"/>
            </a:endParaRPr>
          </a:p>
        </p:txBody>
      </p:sp>
      <p:sp>
        <p:nvSpPr>
          <p:cNvPr id="97" name="Google Shape;97;p15"/>
          <p:cNvSpPr txBox="1"/>
          <p:nvPr/>
        </p:nvSpPr>
        <p:spPr>
          <a:xfrm>
            <a:off x="777923" y="3612248"/>
            <a:ext cx="10636152" cy="775597"/>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1800"/>
              <a:buFont typeface="Arial"/>
              <a:buNone/>
            </a:pPr>
            <a:r>
              <a:rPr lang="en-US" sz="2800" b="1" i="0" u="none" strike="noStrike" cap="none" dirty="0">
                <a:solidFill>
                  <a:srgbClr val="002060"/>
                </a:solidFill>
                <a:latin typeface="Helvetica Neue"/>
                <a:ea typeface="Helvetica Neue"/>
                <a:cs typeface="Helvetica Neue"/>
                <a:sym typeface="Helvetica Neue"/>
              </a:rPr>
              <a:t>Full Stack Development Project </a:t>
            </a:r>
            <a:br>
              <a:rPr lang="en-US" sz="2800" b="1" i="0" u="none" strike="noStrike" cap="none" dirty="0">
                <a:solidFill>
                  <a:srgbClr val="002060"/>
                </a:solidFill>
                <a:latin typeface="Helvetica Neue"/>
                <a:ea typeface="Helvetica Neue"/>
                <a:cs typeface="Helvetica Neue"/>
                <a:sym typeface="Helvetica Neue"/>
              </a:rPr>
            </a:br>
            <a:r>
              <a:rPr lang="en-US" sz="2800" b="1" i="0" u="none" strike="noStrike" cap="none" dirty="0">
                <a:solidFill>
                  <a:srgbClr val="002060"/>
                </a:solidFill>
                <a:latin typeface="Helvetica Neue"/>
                <a:ea typeface="Helvetica Neue"/>
                <a:cs typeface="Helvetica Neue"/>
                <a:sym typeface="Helvetica Neue"/>
              </a:rPr>
              <a:t>Panel-A</a:t>
            </a:r>
            <a:endParaRPr dirty="0"/>
          </a:p>
        </p:txBody>
      </p:sp>
      <p:sp>
        <p:nvSpPr>
          <p:cNvPr id="98" name="Google Shape;98;p15"/>
          <p:cNvSpPr txBox="1"/>
          <p:nvPr/>
        </p:nvSpPr>
        <p:spPr>
          <a:xfrm>
            <a:off x="335475" y="5470100"/>
            <a:ext cx="10245900" cy="498598"/>
          </a:xfrm>
          <a:prstGeom prst="rect">
            <a:avLst/>
          </a:prstGeom>
          <a:noFill/>
          <a:ln>
            <a:noFill/>
          </a:ln>
        </p:spPr>
        <p:txBody>
          <a:bodyPr spcFirstLastPara="1" wrap="square" lIns="0" tIns="0" rIns="0" bIns="0" anchor="ctr" anchorCtr="0">
            <a:spAutoFit/>
          </a:bodyPr>
          <a:lstStyle/>
          <a:p>
            <a:pPr lvl="0">
              <a:lnSpc>
                <a:spcPct val="90000"/>
              </a:lnSpc>
              <a:buSzPts val="1800"/>
            </a:pPr>
            <a:r>
              <a:rPr lang="en-US" sz="1800" b="1" i="0" u="none" strike="noStrike" cap="none" dirty="0">
                <a:solidFill>
                  <a:srgbClr val="002060"/>
                </a:solidFill>
                <a:latin typeface="Helvetica Neue"/>
                <a:ea typeface="Helvetica Neue"/>
                <a:cs typeface="Helvetica Neue"/>
                <a:sym typeface="Helvetica Neue"/>
              </a:rPr>
              <a:t>PR</a:t>
            </a:r>
            <a:r>
              <a:rPr lang="en-US" sz="1800" b="1" dirty="0">
                <a:solidFill>
                  <a:srgbClr val="002060"/>
                </a:solidFill>
                <a:latin typeface="Helvetica Neue"/>
                <a:ea typeface="Helvetica Neue"/>
                <a:cs typeface="Helvetica Neue"/>
                <a:sym typeface="Helvetica Neue"/>
              </a:rPr>
              <a:t>N</a:t>
            </a:r>
            <a:r>
              <a:rPr lang="en-US" sz="1800" b="1" i="0" u="none" strike="noStrike" cap="none" dirty="0">
                <a:solidFill>
                  <a:srgbClr val="002060"/>
                </a:solidFill>
                <a:latin typeface="Helvetica Neue"/>
                <a:ea typeface="Helvetica Neue"/>
                <a:cs typeface="Helvetica Neue"/>
                <a:sym typeface="Helvetica Neue"/>
              </a:rPr>
              <a:t>: 1032232774 Name: </a:t>
            </a:r>
            <a:r>
              <a:rPr lang="en-US" sz="1800" b="1" dirty="0">
                <a:solidFill>
                  <a:srgbClr val="002060"/>
                </a:solidFill>
                <a:latin typeface="Helvetica Neue"/>
                <a:ea typeface="Helvetica Neue"/>
                <a:cs typeface="Helvetica Neue"/>
                <a:sym typeface="Helvetica Neue"/>
              </a:rPr>
              <a:t>Kumar Ujjawal </a:t>
            </a:r>
            <a:r>
              <a:rPr lang="en-US" dirty="0"/>
              <a:t>		</a:t>
            </a:r>
            <a:r>
              <a:rPr lang="en-US" sz="1800" b="1" i="0" u="none" strike="noStrike" cap="none" dirty="0">
                <a:solidFill>
                  <a:srgbClr val="002060"/>
                </a:solidFill>
                <a:latin typeface="Helvetica Neue"/>
                <a:ea typeface="Helvetica Neue"/>
                <a:cs typeface="Helvetica Neue"/>
                <a:sym typeface="Helvetica Neue"/>
              </a:rPr>
              <a:t>PRN: 1032233029 Name: Shrutee Iyer</a:t>
            </a:r>
            <a:endParaRPr sz="1800" b="1" i="0" u="none" strike="noStrike" cap="none" dirty="0">
              <a:solidFill>
                <a:srgbClr val="002060"/>
              </a:solidFill>
              <a:latin typeface="Helvetica Neue"/>
              <a:ea typeface="Helvetica Neue"/>
              <a:cs typeface="Helvetica Neue"/>
              <a:sym typeface="Helvetica Neue"/>
            </a:endParaRPr>
          </a:p>
          <a:p>
            <a:pPr marL="0" marR="0" lvl="0" indent="0" algn="l" rtl="0">
              <a:lnSpc>
                <a:spcPct val="90000"/>
              </a:lnSpc>
              <a:spcBef>
                <a:spcPts val="0"/>
              </a:spcBef>
              <a:spcAft>
                <a:spcPts val="0"/>
              </a:spcAft>
              <a:buNone/>
            </a:pPr>
            <a:r>
              <a:rPr lang="en-US" sz="1800" b="1" i="0" u="none" strike="noStrike" cap="none" dirty="0">
                <a:solidFill>
                  <a:srgbClr val="002060"/>
                </a:solidFill>
                <a:latin typeface="Helvetica Neue"/>
                <a:ea typeface="Helvetica Neue"/>
                <a:cs typeface="Helvetica Neue"/>
                <a:sym typeface="Helvetica Neue"/>
              </a:rPr>
              <a:t>PRN: 1032232889 Name: Taha Mohammedi          </a:t>
            </a:r>
            <a:r>
              <a:rPr lang="en-US" dirty="0"/>
              <a:t>   </a:t>
            </a:r>
            <a:r>
              <a:rPr lang="en-US" sz="1800" b="1" i="0" u="none" strike="noStrike" cap="none" dirty="0">
                <a:solidFill>
                  <a:srgbClr val="002060"/>
                </a:solidFill>
                <a:latin typeface="Helvetica Neue"/>
                <a:ea typeface="Helvetica Neue"/>
                <a:cs typeface="Helvetica Neue"/>
                <a:sym typeface="Helvetica Neue"/>
              </a:rPr>
              <a:t>PRN: 1032232956 Name: </a:t>
            </a:r>
            <a:r>
              <a:rPr lang="en-US" sz="1800" b="1" dirty="0">
                <a:solidFill>
                  <a:srgbClr val="002060"/>
                </a:solidFill>
                <a:latin typeface="Helvetica Neue"/>
                <a:ea typeface="Helvetica Neue"/>
                <a:cs typeface="Helvetica Neue"/>
                <a:sym typeface="Helvetica Neue"/>
              </a:rPr>
              <a:t>Sanya </a:t>
            </a:r>
            <a:r>
              <a:rPr lang="en-US" sz="1800" b="1" dirty="0" err="1">
                <a:solidFill>
                  <a:srgbClr val="002060"/>
                </a:solidFill>
                <a:latin typeface="Helvetica Neue"/>
                <a:ea typeface="Helvetica Neue"/>
                <a:cs typeface="Helvetica Neue"/>
                <a:sym typeface="Helvetica Neue"/>
              </a:rPr>
              <a:t>Asati</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88888"/>
              </a:buClr>
              <a:buSzPts val="1200"/>
              <a:buFont typeface="Calibri"/>
              <a:buNone/>
            </a:pPr>
            <a:fld id="{00000000-1234-1234-1234-123412341234}" type="slidenum">
              <a:rPr lang="en-US" sz="1200" b="0" i="0" u="none" strike="noStrike" cap="none">
                <a:solidFill>
                  <a:srgbClr val="888888"/>
                </a:solidFill>
                <a:latin typeface="Calibri"/>
                <a:ea typeface="Calibri"/>
                <a:cs typeface="Calibri"/>
                <a:sym typeface="Calibri"/>
              </a:rPr>
              <a:t>2</a:t>
            </a:fld>
            <a:endParaRPr sz="1200" b="0" i="0" u="none" strike="noStrike" cap="none">
              <a:solidFill>
                <a:srgbClr val="888888"/>
              </a:solidFill>
              <a:latin typeface="Calibri"/>
              <a:ea typeface="Calibri"/>
              <a:cs typeface="Calibri"/>
              <a:sym typeface="Calibri"/>
            </a:endParaRPr>
          </a:p>
        </p:txBody>
      </p:sp>
      <p:sp>
        <p:nvSpPr>
          <p:cNvPr id="104" name="Google Shape;104;p16"/>
          <p:cNvSpPr txBox="1"/>
          <p:nvPr/>
        </p:nvSpPr>
        <p:spPr>
          <a:xfrm>
            <a:off x="1058100" y="450043"/>
            <a:ext cx="10075800" cy="443198"/>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1800"/>
              <a:buFont typeface="Arial"/>
              <a:buNone/>
            </a:pPr>
            <a:r>
              <a:rPr lang="en-US" sz="3200" b="1" i="0" u="none" strike="noStrike" cap="none">
                <a:solidFill>
                  <a:srgbClr val="002060"/>
                </a:solidFill>
                <a:latin typeface="Helvetica Neue"/>
                <a:ea typeface="Helvetica Neue"/>
                <a:cs typeface="Helvetica Neue"/>
                <a:sym typeface="Helvetica Neue"/>
              </a:rPr>
              <a:t>Problem Statement &amp; Proposed Solution</a:t>
            </a:r>
            <a:endParaRPr sz="3200" b="1" i="0" u="none" strike="noStrike" cap="none">
              <a:solidFill>
                <a:srgbClr val="002060"/>
              </a:solidFill>
              <a:latin typeface="Helvetica Neue"/>
              <a:ea typeface="Helvetica Neue"/>
              <a:cs typeface="Helvetica Neue"/>
              <a:sym typeface="Helvetica Neue"/>
            </a:endParaRPr>
          </a:p>
        </p:txBody>
      </p:sp>
      <p:sp>
        <p:nvSpPr>
          <p:cNvPr id="105" name="Google Shape;105;p16"/>
          <p:cNvSpPr txBox="1"/>
          <p:nvPr/>
        </p:nvSpPr>
        <p:spPr>
          <a:xfrm>
            <a:off x="394500" y="1634650"/>
            <a:ext cx="10959300" cy="4721700"/>
          </a:xfrm>
          <a:prstGeom prst="rect">
            <a:avLst/>
          </a:prstGeom>
          <a:noFill/>
          <a:ln>
            <a:noFill/>
          </a:ln>
        </p:spPr>
        <p:txBody>
          <a:bodyPr spcFirstLastPara="1" wrap="square" lIns="91425" tIns="91425" rIns="91425" bIns="91425" anchor="t" anchorCtr="0">
            <a:noAutofit/>
          </a:bodyPr>
          <a:lstStyle/>
          <a:p>
            <a:pPr marL="457200" lvl="0" indent="-361950" algn="just" rtl="0">
              <a:lnSpc>
                <a:spcPct val="115000"/>
              </a:lnSpc>
              <a:spcBef>
                <a:spcPts val="1400"/>
              </a:spcBef>
              <a:spcAft>
                <a:spcPts val="0"/>
              </a:spcAft>
              <a:buClr>
                <a:schemeClr val="dk1"/>
              </a:buClr>
              <a:buSzPts val="2100"/>
              <a:buFont typeface="Calibri"/>
              <a:buChar char="●"/>
            </a:pPr>
            <a:r>
              <a:rPr lang="en-US" sz="2100" b="1" dirty="0">
                <a:solidFill>
                  <a:schemeClr val="dk1"/>
                </a:solidFill>
                <a:latin typeface="Cambria" panose="02040503050406030204" pitchFamily="18" charset="0"/>
                <a:ea typeface="Cambria" panose="02040503050406030204" pitchFamily="18" charset="0"/>
                <a:cs typeface="Calibri"/>
                <a:sym typeface="Calibri"/>
              </a:rPr>
              <a:t>Problem Statement</a:t>
            </a:r>
            <a:endParaRPr sz="2100" b="1" dirty="0">
              <a:solidFill>
                <a:schemeClr val="dk1"/>
              </a:solidFill>
              <a:latin typeface="Cambria" panose="02040503050406030204" pitchFamily="18" charset="0"/>
              <a:ea typeface="Cambria" panose="02040503050406030204" pitchFamily="18" charset="0"/>
              <a:cs typeface="Calibri"/>
              <a:sym typeface="Calibri"/>
            </a:endParaRPr>
          </a:p>
          <a:p>
            <a:pPr marL="457200" algn="just">
              <a:lnSpc>
                <a:spcPct val="115000"/>
              </a:lnSpc>
              <a:spcBef>
                <a:spcPts val="1200"/>
              </a:spcBef>
            </a:pPr>
            <a:r>
              <a:rPr lang="en-US" sz="1600" dirty="0">
                <a:latin typeface="Cambria" panose="02040503050406030204" pitchFamily="18" charset="0"/>
                <a:ea typeface="Cambria" panose="02040503050406030204" pitchFamily="18" charset="0"/>
              </a:rPr>
              <a:t>Many SMEs and freelancers still rely on manual invoicing, resulting in errors, delays, and limited financial visibility. Existing tools like Tally ERP and QuickBooks, though efficient, are expensive, complex, and unsuitable for small-scale users. Additionally, traditional systems lack real-time dashboards and centralized tracking, leading to redundant data entry and difficulty monitoring unpaid invoices. This project proposes a cost-effective, user-friendly web-based Invoice Management System that automates billing, ensures data accuracy, and provides real-time financial insights.</a:t>
            </a:r>
            <a:r>
              <a:rPr lang="en-US" sz="1500" dirty="0">
                <a:latin typeface="Cambria" panose="02040503050406030204" pitchFamily="18" charset="0"/>
                <a:ea typeface="Cambria" panose="02040503050406030204" pitchFamily="18" charset="0"/>
              </a:rPr>
              <a:t>.</a:t>
            </a:r>
          </a:p>
          <a:p>
            <a:pPr marL="457200" lvl="0" algn="just" rtl="0">
              <a:lnSpc>
                <a:spcPct val="115000"/>
              </a:lnSpc>
              <a:spcBef>
                <a:spcPts val="1200"/>
              </a:spcBef>
              <a:spcAft>
                <a:spcPts val="0"/>
              </a:spcAft>
            </a:pPr>
            <a:r>
              <a:rPr lang="en-US" sz="2100" b="1" dirty="0">
                <a:solidFill>
                  <a:schemeClr val="dk1"/>
                </a:solidFill>
                <a:latin typeface="Cambria" panose="02040503050406030204" pitchFamily="18" charset="0"/>
                <a:ea typeface="Cambria" panose="02040503050406030204" pitchFamily="18" charset="0"/>
                <a:cs typeface="Calibri"/>
                <a:sym typeface="Calibri"/>
              </a:rPr>
              <a:t>Proposed Solution</a:t>
            </a:r>
          </a:p>
          <a:p>
            <a:pPr marL="457200" lvl="0" algn="just">
              <a:lnSpc>
                <a:spcPct val="115000"/>
              </a:lnSpc>
              <a:spcBef>
                <a:spcPts val="1200"/>
              </a:spcBef>
            </a:pPr>
            <a:r>
              <a:rPr lang="en-US" sz="1600" dirty="0">
                <a:latin typeface="Cambria" panose="02040503050406030204" pitchFamily="18" charset="0"/>
                <a:ea typeface="Cambria" panose="02040503050406030204" pitchFamily="18" charset="0"/>
              </a:rPr>
              <a:t>The proposed solution is a full-stack Invoice Management System using React.js, Flask, and MongoDB to automate billing and financial tracking for SMEs and freelancers. It offers secure login, CRUD operations for customers, products, and invoices, and a real-time dashboard for revenue and payments. This web-based platform replaces manual invoicing, improving accuracy, efficiency, and financial visibility while remaining cost-effective and scalable for future integrations</a:t>
            </a:r>
            <a:r>
              <a:rPr lang="en-US" dirty="0">
                <a:latin typeface="Cambria" panose="02040503050406030204" pitchFamily="18" charset="0"/>
                <a:ea typeface="Cambria" panose="02040503050406030204" pitchFamily="18" charset="0"/>
              </a:rPr>
              <a:t>..</a:t>
            </a:r>
            <a:endParaRPr b="1" dirty="0">
              <a:solidFill>
                <a:schemeClr val="dk1"/>
              </a:solidFill>
              <a:latin typeface="Cambria" panose="02040503050406030204" pitchFamily="18" charset="0"/>
              <a:ea typeface="Cambria" panose="02040503050406030204" pitchFamily="18" charset="0"/>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88888"/>
              </a:buClr>
              <a:buSzPts val="1200"/>
              <a:buFont typeface="Calibri"/>
              <a:buNone/>
            </a:pPr>
            <a:fld id="{00000000-1234-1234-1234-123412341234}" type="slidenum">
              <a:rPr lang="en-US" sz="1200" b="0" i="0" u="none" strike="noStrike" cap="none">
                <a:solidFill>
                  <a:srgbClr val="888888"/>
                </a:solidFill>
                <a:latin typeface="Calibri"/>
                <a:ea typeface="Calibri"/>
                <a:cs typeface="Calibri"/>
                <a:sym typeface="Calibri"/>
              </a:rPr>
              <a:t>3</a:t>
            </a:fld>
            <a:endParaRPr sz="1200" b="0" i="0" u="none" strike="noStrike" cap="none">
              <a:solidFill>
                <a:srgbClr val="888888"/>
              </a:solidFill>
              <a:latin typeface="Calibri"/>
              <a:ea typeface="Calibri"/>
              <a:cs typeface="Calibri"/>
              <a:sym typeface="Calibri"/>
            </a:endParaRPr>
          </a:p>
        </p:txBody>
      </p:sp>
      <p:sp>
        <p:nvSpPr>
          <p:cNvPr id="111" name="Google Shape;111;p17"/>
          <p:cNvSpPr txBox="1"/>
          <p:nvPr/>
        </p:nvSpPr>
        <p:spPr>
          <a:xfrm>
            <a:off x="1058100" y="169893"/>
            <a:ext cx="10075800" cy="4434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1800"/>
              <a:buFont typeface="Arial"/>
              <a:buNone/>
            </a:pPr>
            <a:r>
              <a:rPr lang="en-US" sz="3200" b="1" i="0" u="none" strike="noStrike" cap="none">
                <a:solidFill>
                  <a:srgbClr val="002060"/>
                </a:solidFill>
                <a:latin typeface="Helvetica Neue"/>
                <a:ea typeface="Helvetica Neue"/>
                <a:cs typeface="Helvetica Neue"/>
                <a:sym typeface="Helvetica Neue"/>
              </a:rPr>
              <a:t>Process Flow Diagram &amp; System Architecture</a:t>
            </a:r>
            <a:endParaRPr sz="3200" b="1" i="0" u="none" strike="noStrike" cap="none">
              <a:solidFill>
                <a:srgbClr val="002060"/>
              </a:solidFill>
              <a:latin typeface="Helvetica Neue"/>
              <a:ea typeface="Helvetica Neue"/>
              <a:cs typeface="Helvetica Neue"/>
              <a:sym typeface="Helvetica Neue"/>
            </a:endParaRPr>
          </a:p>
        </p:txBody>
      </p:sp>
      <p:pic>
        <p:nvPicPr>
          <p:cNvPr id="2" name="Picture 1">
            <a:extLst>
              <a:ext uri="{FF2B5EF4-FFF2-40B4-BE49-F238E27FC236}">
                <a16:creationId xmlns:a16="http://schemas.microsoft.com/office/drawing/2014/main" id="{C43CC695-8762-3FE8-7DAD-B816CFC30B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81240" y="743717"/>
            <a:ext cx="2646680" cy="6114283"/>
          </a:xfrm>
          <a:prstGeom prst="rect">
            <a:avLst/>
          </a:prstGeom>
        </p:spPr>
      </p:pic>
      <p:sp>
        <p:nvSpPr>
          <p:cNvPr id="4" name="TextBox 3">
            <a:extLst>
              <a:ext uri="{FF2B5EF4-FFF2-40B4-BE49-F238E27FC236}">
                <a16:creationId xmlns:a16="http://schemas.microsoft.com/office/drawing/2014/main" id="{92681C3A-6A87-30A3-25F9-F29334E39063}"/>
              </a:ext>
            </a:extLst>
          </p:cNvPr>
          <p:cNvSpPr txBox="1"/>
          <p:nvPr/>
        </p:nvSpPr>
        <p:spPr>
          <a:xfrm>
            <a:off x="682180" y="1277090"/>
            <a:ext cx="6096000" cy="5401479"/>
          </a:xfrm>
          <a:prstGeom prst="rect">
            <a:avLst/>
          </a:prstGeom>
          <a:noFill/>
        </p:spPr>
        <p:txBody>
          <a:bodyPr wrap="square">
            <a:spAutoFit/>
          </a:bodyPr>
          <a:lstStyle/>
          <a:p>
            <a:r>
              <a:rPr lang="en-US" sz="1500" b="1" dirty="0">
                <a:latin typeface="Cambria" panose="02040503050406030204" pitchFamily="18" charset="0"/>
                <a:ea typeface="Cambria" panose="02040503050406030204" pitchFamily="18" charset="0"/>
              </a:rPr>
              <a:t>Step 1:</a:t>
            </a:r>
            <a:r>
              <a:rPr lang="en-US" sz="1500" dirty="0">
                <a:latin typeface="Cambria" panose="02040503050406030204" pitchFamily="18" charset="0"/>
                <a:ea typeface="Cambria" panose="02040503050406030204" pitchFamily="18" charset="0"/>
              </a:rPr>
              <a:t> User opens the web application.</a:t>
            </a:r>
          </a:p>
          <a:p>
            <a:br>
              <a:rPr lang="en-US" sz="1500" dirty="0">
                <a:latin typeface="Cambria" panose="02040503050406030204" pitchFamily="18" charset="0"/>
                <a:ea typeface="Cambria" panose="02040503050406030204" pitchFamily="18" charset="0"/>
              </a:rPr>
            </a:br>
            <a:r>
              <a:rPr lang="en-US" sz="1500" b="1" dirty="0">
                <a:latin typeface="Cambria" panose="02040503050406030204" pitchFamily="18" charset="0"/>
                <a:ea typeface="Cambria" panose="02040503050406030204" pitchFamily="18" charset="0"/>
              </a:rPr>
              <a:t>Step 2:</a:t>
            </a:r>
            <a:r>
              <a:rPr lang="en-US" sz="1500" dirty="0">
                <a:latin typeface="Cambria" panose="02040503050406030204" pitchFamily="18" charset="0"/>
                <a:ea typeface="Cambria" panose="02040503050406030204" pitchFamily="18" charset="0"/>
              </a:rPr>
              <a:t> Login or register on the platform.</a:t>
            </a:r>
          </a:p>
          <a:p>
            <a:br>
              <a:rPr lang="en-US" sz="1500" dirty="0">
                <a:latin typeface="Cambria" panose="02040503050406030204" pitchFamily="18" charset="0"/>
                <a:ea typeface="Cambria" panose="02040503050406030204" pitchFamily="18" charset="0"/>
              </a:rPr>
            </a:br>
            <a:r>
              <a:rPr lang="en-US" sz="1500" b="1" dirty="0">
                <a:latin typeface="Cambria" panose="02040503050406030204" pitchFamily="18" charset="0"/>
                <a:ea typeface="Cambria" panose="02040503050406030204" pitchFamily="18" charset="0"/>
              </a:rPr>
              <a:t>Step 3:</a:t>
            </a:r>
            <a:r>
              <a:rPr lang="en-US" sz="1500" dirty="0">
                <a:latin typeface="Cambria" panose="02040503050406030204" pitchFamily="18" charset="0"/>
                <a:ea typeface="Cambria" panose="02040503050406030204" pitchFamily="18" charset="0"/>
              </a:rPr>
              <a:t> Enter credentials and submit.</a:t>
            </a:r>
          </a:p>
          <a:p>
            <a:br>
              <a:rPr lang="en-US" sz="1500" dirty="0">
                <a:latin typeface="Cambria" panose="02040503050406030204" pitchFamily="18" charset="0"/>
                <a:ea typeface="Cambria" panose="02040503050406030204" pitchFamily="18" charset="0"/>
              </a:rPr>
            </a:br>
            <a:r>
              <a:rPr lang="en-US" sz="1500" b="1" dirty="0">
                <a:latin typeface="Cambria" panose="02040503050406030204" pitchFamily="18" charset="0"/>
                <a:ea typeface="Cambria" panose="02040503050406030204" pitchFamily="18" charset="0"/>
              </a:rPr>
              <a:t>Step 4:</a:t>
            </a:r>
            <a:r>
              <a:rPr lang="en-US" sz="1500" dirty="0">
                <a:latin typeface="Cambria" panose="02040503050406030204" pitchFamily="18" charset="0"/>
                <a:ea typeface="Cambria" panose="02040503050406030204" pitchFamily="18" charset="0"/>
              </a:rPr>
              <a:t> Flask verifies credentials with MongoDB.</a:t>
            </a:r>
          </a:p>
          <a:p>
            <a:br>
              <a:rPr lang="en-US" sz="1500" dirty="0">
                <a:latin typeface="Cambria" panose="02040503050406030204" pitchFamily="18" charset="0"/>
                <a:ea typeface="Cambria" panose="02040503050406030204" pitchFamily="18" charset="0"/>
              </a:rPr>
            </a:br>
            <a:r>
              <a:rPr lang="en-US" sz="1500" b="1" dirty="0">
                <a:latin typeface="Cambria" panose="02040503050406030204" pitchFamily="18" charset="0"/>
                <a:ea typeface="Cambria" panose="02040503050406030204" pitchFamily="18" charset="0"/>
              </a:rPr>
              <a:t>Step 5:</a:t>
            </a:r>
            <a:r>
              <a:rPr lang="en-US" sz="1500" dirty="0">
                <a:latin typeface="Cambria" panose="02040503050406030204" pitchFamily="18" charset="0"/>
                <a:ea typeface="Cambria" panose="02040503050406030204" pitchFamily="18" charset="0"/>
              </a:rPr>
              <a:t> If login/register fails → show error and retry.</a:t>
            </a:r>
          </a:p>
          <a:p>
            <a:br>
              <a:rPr lang="en-US" sz="1500" dirty="0">
                <a:latin typeface="Cambria" panose="02040503050406030204" pitchFamily="18" charset="0"/>
                <a:ea typeface="Cambria" panose="02040503050406030204" pitchFamily="18" charset="0"/>
              </a:rPr>
            </a:br>
            <a:r>
              <a:rPr lang="en-US" sz="1500" b="1" dirty="0">
                <a:latin typeface="Cambria" panose="02040503050406030204" pitchFamily="18" charset="0"/>
                <a:ea typeface="Cambria" panose="02040503050406030204" pitchFamily="18" charset="0"/>
              </a:rPr>
              <a:t>Step 6:</a:t>
            </a:r>
            <a:r>
              <a:rPr lang="en-US" sz="1500" dirty="0">
                <a:latin typeface="Cambria" panose="02040503050406030204" pitchFamily="18" charset="0"/>
                <a:ea typeface="Cambria" panose="02040503050406030204" pitchFamily="18" charset="0"/>
              </a:rPr>
              <a:t> If successful → redirect to dashboard.</a:t>
            </a:r>
          </a:p>
          <a:p>
            <a:br>
              <a:rPr lang="en-US" sz="1500" dirty="0">
                <a:latin typeface="Cambria" panose="02040503050406030204" pitchFamily="18" charset="0"/>
                <a:ea typeface="Cambria" panose="02040503050406030204" pitchFamily="18" charset="0"/>
              </a:rPr>
            </a:br>
            <a:r>
              <a:rPr lang="en-US" sz="1500" b="1" dirty="0">
                <a:latin typeface="Cambria" panose="02040503050406030204" pitchFamily="18" charset="0"/>
                <a:ea typeface="Cambria" panose="02040503050406030204" pitchFamily="18" charset="0"/>
              </a:rPr>
              <a:t>Step 7:</a:t>
            </a:r>
            <a:r>
              <a:rPr lang="en-US" sz="1500" dirty="0">
                <a:latin typeface="Cambria" panose="02040503050406030204" pitchFamily="18" charset="0"/>
                <a:ea typeface="Cambria" panose="02040503050406030204" pitchFamily="18" charset="0"/>
              </a:rPr>
              <a:t> User selects an action: Customer, Product, Invoice, or Logout.</a:t>
            </a:r>
          </a:p>
          <a:p>
            <a:br>
              <a:rPr lang="en-US" sz="1500" dirty="0">
                <a:latin typeface="Cambria" panose="02040503050406030204" pitchFamily="18" charset="0"/>
                <a:ea typeface="Cambria" panose="02040503050406030204" pitchFamily="18" charset="0"/>
              </a:rPr>
            </a:br>
            <a:r>
              <a:rPr lang="en-US" sz="1500" b="1" dirty="0">
                <a:latin typeface="Cambria" panose="02040503050406030204" pitchFamily="18" charset="0"/>
                <a:ea typeface="Cambria" panose="02040503050406030204" pitchFamily="18" charset="0"/>
              </a:rPr>
              <a:t>Step 8:</a:t>
            </a:r>
            <a:r>
              <a:rPr lang="en-US" sz="1500" dirty="0">
                <a:latin typeface="Cambria" panose="02040503050406030204" pitchFamily="18" charset="0"/>
                <a:ea typeface="Cambria" panose="02040503050406030204" pitchFamily="18" charset="0"/>
              </a:rPr>
              <a:t> For Add/Edit/Delete → fill and validate the form.</a:t>
            </a:r>
          </a:p>
          <a:p>
            <a:br>
              <a:rPr lang="en-US" sz="1500" dirty="0">
                <a:latin typeface="Cambria" panose="02040503050406030204" pitchFamily="18" charset="0"/>
                <a:ea typeface="Cambria" panose="02040503050406030204" pitchFamily="18" charset="0"/>
              </a:rPr>
            </a:br>
            <a:r>
              <a:rPr lang="en-US" sz="1500" b="1" dirty="0">
                <a:latin typeface="Cambria" panose="02040503050406030204" pitchFamily="18" charset="0"/>
                <a:ea typeface="Cambria" panose="02040503050406030204" pitchFamily="18" charset="0"/>
              </a:rPr>
              <a:t>Step 9:</a:t>
            </a:r>
            <a:r>
              <a:rPr lang="en-US" sz="1500" dirty="0">
                <a:latin typeface="Cambria" panose="02040503050406030204" pitchFamily="18" charset="0"/>
                <a:ea typeface="Cambria" panose="02040503050406030204" pitchFamily="18" charset="0"/>
              </a:rPr>
              <a:t> If valid → send data to Flask API.</a:t>
            </a:r>
          </a:p>
          <a:p>
            <a:br>
              <a:rPr lang="en-US" sz="1500" dirty="0">
                <a:latin typeface="Cambria" panose="02040503050406030204" pitchFamily="18" charset="0"/>
                <a:ea typeface="Cambria" panose="02040503050406030204" pitchFamily="18" charset="0"/>
              </a:rPr>
            </a:br>
            <a:r>
              <a:rPr lang="en-US" sz="1500" b="1" dirty="0">
                <a:latin typeface="Cambria" panose="02040503050406030204" pitchFamily="18" charset="0"/>
                <a:ea typeface="Cambria" panose="02040503050406030204" pitchFamily="18" charset="0"/>
              </a:rPr>
              <a:t>Step 10:</a:t>
            </a:r>
            <a:r>
              <a:rPr lang="en-US" sz="1500" dirty="0">
                <a:latin typeface="Cambria" panose="02040503050406030204" pitchFamily="18" charset="0"/>
                <a:ea typeface="Cambria" panose="02040503050406030204" pitchFamily="18" charset="0"/>
              </a:rPr>
              <a:t> Flask updates MongoDB and returns response.</a:t>
            </a:r>
          </a:p>
          <a:p>
            <a:br>
              <a:rPr lang="en-US" sz="1500" dirty="0">
                <a:latin typeface="Cambria" panose="02040503050406030204" pitchFamily="18" charset="0"/>
                <a:ea typeface="Cambria" panose="02040503050406030204" pitchFamily="18" charset="0"/>
              </a:rPr>
            </a:br>
            <a:r>
              <a:rPr lang="en-US" sz="1500" b="1" dirty="0">
                <a:latin typeface="Cambria" panose="02040503050406030204" pitchFamily="18" charset="0"/>
                <a:ea typeface="Cambria" panose="02040503050406030204" pitchFamily="18" charset="0"/>
              </a:rPr>
              <a:t>Step 11:</a:t>
            </a:r>
            <a:r>
              <a:rPr lang="en-US" sz="1500" dirty="0">
                <a:latin typeface="Cambria" panose="02040503050406030204" pitchFamily="18" charset="0"/>
                <a:ea typeface="Cambria" panose="02040503050406030204" pitchFamily="18" charset="0"/>
              </a:rPr>
              <a:t> Show updated data or backend error.</a:t>
            </a:r>
          </a:p>
          <a:p>
            <a:br>
              <a:rPr lang="en-US" sz="1500" dirty="0">
                <a:latin typeface="Cambria" panose="02040503050406030204" pitchFamily="18" charset="0"/>
                <a:ea typeface="Cambria" panose="02040503050406030204" pitchFamily="18" charset="0"/>
              </a:rPr>
            </a:br>
            <a:r>
              <a:rPr lang="en-US" sz="1500" b="1" dirty="0">
                <a:latin typeface="Cambria" panose="02040503050406030204" pitchFamily="18" charset="0"/>
                <a:ea typeface="Cambria" panose="02040503050406030204" pitchFamily="18" charset="0"/>
              </a:rPr>
              <a:t>Step 12:</a:t>
            </a:r>
            <a:r>
              <a:rPr lang="en-US" sz="1500" dirty="0">
                <a:latin typeface="Cambria" panose="02040503050406030204" pitchFamily="18" charset="0"/>
                <a:ea typeface="Cambria" panose="02040503050406030204" pitchFamily="18" charset="0"/>
              </a:rPr>
              <a:t> Optionally print/email invoice, then logout to end session.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88888"/>
              </a:buClr>
              <a:buSzPts val="1200"/>
              <a:buFont typeface="Calibri"/>
              <a:buNone/>
            </a:pPr>
            <a:fld id="{00000000-1234-1234-1234-123412341234}" type="slidenum">
              <a:rPr lang="en-US" sz="1200" b="0" i="0" u="none" strike="noStrike" cap="none">
                <a:solidFill>
                  <a:srgbClr val="888888"/>
                </a:solidFill>
                <a:latin typeface="Calibri"/>
                <a:ea typeface="Calibri"/>
                <a:cs typeface="Calibri"/>
                <a:sym typeface="Calibri"/>
              </a:rPr>
              <a:t>4</a:t>
            </a:fld>
            <a:endParaRPr sz="1200" b="0" i="0" u="none" strike="noStrike" cap="none">
              <a:solidFill>
                <a:srgbClr val="888888"/>
              </a:solidFill>
              <a:latin typeface="Calibri"/>
              <a:ea typeface="Calibri"/>
              <a:cs typeface="Calibri"/>
              <a:sym typeface="Calibri"/>
            </a:endParaRPr>
          </a:p>
        </p:txBody>
      </p:sp>
      <p:sp>
        <p:nvSpPr>
          <p:cNvPr id="119" name="Google Shape;119;p18"/>
          <p:cNvSpPr txBox="1"/>
          <p:nvPr/>
        </p:nvSpPr>
        <p:spPr>
          <a:xfrm>
            <a:off x="1058100" y="450043"/>
            <a:ext cx="10075800" cy="443198"/>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1800"/>
              <a:buFont typeface="Arial"/>
              <a:buNone/>
            </a:pPr>
            <a:r>
              <a:rPr lang="en-US" sz="3200" b="1" i="0" u="none" strike="noStrike" cap="none">
                <a:solidFill>
                  <a:srgbClr val="002060"/>
                </a:solidFill>
                <a:latin typeface="Helvetica Neue"/>
                <a:ea typeface="Helvetica Neue"/>
                <a:cs typeface="Helvetica Neue"/>
                <a:sym typeface="Helvetica Neue"/>
              </a:rPr>
              <a:t>Technical Stack with Reasoning</a:t>
            </a:r>
            <a:endParaRPr sz="3200" b="1" i="0" u="none" strike="noStrike" cap="none">
              <a:solidFill>
                <a:srgbClr val="002060"/>
              </a:solidFill>
              <a:latin typeface="Helvetica Neue"/>
              <a:ea typeface="Helvetica Neue"/>
              <a:cs typeface="Helvetica Neue"/>
              <a:sym typeface="Helvetica Neue"/>
            </a:endParaRPr>
          </a:p>
        </p:txBody>
      </p:sp>
      <p:sp>
        <p:nvSpPr>
          <p:cNvPr id="120" name="Google Shape;120;p18"/>
          <p:cNvSpPr txBox="1"/>
          <p:nvPr/>
        </p:nvSpPr>
        <p:spPr>
          <a:xfrm>
            <a:off x="487680" y="1166595"/>
            <a:ext cx="11431111" cy="5241362"/>
          </a:xfrm>
          <a:prstGeom prst="rect">
            <a:avLst/>
          </a:prstGeom>
          <a:noFill/>
          <a:ln>
            <a:noFill/>
          </a:ln>
        </p:spPr>
        <p:txBody>
          <a:bodyPr spcFirstLastPara="1" wrap="square" lIns="91425" tIns="91425" rIns="91425" bIns="91425" anchor="t" anchorCtr="0">
            <a:noAutofit/>
          </a:bodyPr>
          <a:lstStyle/>
          <a:p>
            <a:r>
              <a:rPr lang="en-IN" sz="1800" b="1" dirty="0">
                <a:latin typeface="Cambria" panose="02040503050406030204" pitchFamily="18" charset="0"/>
                <a:ea typeface="Cambria" panose="02040503050406030204" pitchFamily="18" charset="0"/>
              </a:rPr>
              <a:t>Frontend:</a:t>
            </a:r>
            <a:endParaRPr lang="en-IN" sz="1800"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IN" sz="1800" dirty="0">
                <a:latin typeface="Cambria" panose="02040503050406030204" pitchFamily="18" charset="0"/>
                <a:ea typeface="Cambria" panose="02040503050406030204" pitchFamily="18" charset="0"/>
              </a:rPr>
              <a:t>Built using </a:t>
            </a:r>
            <a:r>
              <a:rPr lang="en-IN" sz="1800" b="1" dirty="0">
                <a:latin typeface="Cambria" panose="02040503050406030204" pitchFamily="18" charset="0"/>
                <a:ea typeface="Cambria" panose="02040503050406030204" pitchFamily="18" charset="0"/>
              </a:rPr>
              <a:t>React.js</a:t>
            </a:r>
            <a:r>
              <a:rPr lang="en-IN" sz="1800" dirty="0">
                <a:latin typeface="Cambria" panose="02040503050406030204" pitchFamily="18" charset="0"/>
                <a:ea typeface="Cambria" panose="02040503050406030204" pitchFamily="18" charset="0"/>
              </a:rPr>
              <a:t> for a fast and dynamic user interface</a:t>
            </a:r>
          </a:p>
          <a:p>
            <a:pPr marL="285750" indent="-285750">
              <a:buFont typeface="Arial" panose="020B0604020202020204" pitchFamily="34" charset="0"/>
              <a:buChar char="•"/>
            </a:pPr>
            <a:r>
              <a:rPr lang="en-IN" sz="1800" dirty="0">
                <a:latin typeface="Cambria" panose="02040503050406030204" pitchFamily="18" charset="0"/>
                <a:ea typeface="Cambria" panose="02040503050406030204" pitchFamily="18" charset="0"/>
              </a:rPr>
              <a:t>Styled with </a:t>
            </a:r>
            <a:r>
              <a:rPr lang="en-IN" sz="1800" b="1" dirty="0">
                <a:latin typeface="Cambria" panose="02040503050406030204" pitchFamily="18" charset="0"/>
                <a:ea typeface="Cambria" panose="02040503050406030204" pitchFamily="18" charset="0"/>
              </a:rPr>
              <a:t>Bootstrap</a:t>
            </a:r>
            <a:r>
              <a:rPr lang="en-IN" sz="1800" dirty="0">
                <a:latin typeface="Cambria" panose="02040503050406030204" pitchFamily="18" charset="0"/>
                <a:ea typeface="Cambria" panose="02040503050406030204" pitchFamily="18" charset="0"/>
              </a:rPr>
              <a:t> and </a:t>
            </a:r>
            <a:r>
              <a:rPr lang="en-IN" sz="1800" b="1" dirty="0">
                <a:latin typeface="Cambria" panose="02040503050406030204" pitchFamily="18" charset="0"/>
                <a:ea typeface="Cambria" panose="02040503050406030204" pitchFamily="18" charset="0"/>
              </a:rPr>
              <a:t>CSS3</a:t>
            </a:r>
            <a:r>
              <a:rPr lang="en-IN" sz="1800" dirty="0">
                <a:latin typeface="Cambria" panose="02040503050406030204" pitchFamily="18" charset="0"/>
                <a:ea typeface="Cambria" panose="02040503050406030204" pitchFamily="18" charset="0"/>
              </a:rPr>
              <a:t> for responsive design</a:t>
            </a:r>
          </a:p>
          <a:p>
            <a:pPr marL="285750" indent="-285750">
              <a:buFont typeface="Arial" panose="020B0604020202020204" pitchFamily="34" charset="0"/>
              <a:buChar char="•"/>
            </a:pPr>
            <a:r>
              <a:rPr lang="en-IN" sz="1800" dirty="0">
                <a:latin typeface="Cambria" panose="02040503050406030204" pitchFamily="18" charset="0"/>
                <a:ea typeface="Cambria" panose="02040503050406030204" pitchFamily="18" charset="0"/>
              </a:rPr>
              <a:t>Uses </a:t>
            </a:r>
            <a:r>
              <a:rPr lang="en-IN" sz="1800" b="1" dirty="0">
                <a:latin typeface="Cambria" panose="02040503050406030204" pitchFamily="18" charset="0"/>
                <a:ea typeface="Cambria" panose="02040503050406030204" pitchFamily="18" charset="0"/>
              </a:rPr>
              <a:t>React Hooks</a:t>
            </a:r>
            <a:r>
              <a:rPr lang="en-IN" sz="1800" dirty="0">
                <a:latin typeface="Cambria" panose="02040503050406030204" pitchFamily="18" charset="0"/>
                <a:ea typeface="Cambria" panose="02040503050406030204" pitchFamily="18" charset="0"/>
              </a:rPr>
              <a:t> for managing component states</a:t>
            </a:r>
          </a:p>
          <a:p>
            <a:pPr marL="285750" indent="-285750">
              <a:buFont typeface="Arial" panose="020B0604020202020204" pitchFamily="34" charset="0"/>
              <a:buChar char="•"/>
            </a:pPr>
            <a:endParaRPr lang="en-IN" sz="1800" dirty="0">
              <a:latin typeface="Cambria" panose="02040503050406030204" pitchFamily="18" charset="0"/>
              <a:ea typeface="Cambria" panose="02040503050406030204" pitchFamily="18" charset="0"/>
            </a:endParaRPr>
          </a:p>
          <a:p>
            <a:r>
              <a:rPr lang="en-IN" sz="1800" b="1" dirty="0">
                <a:latin typeface="Cambria" panose="02040503050406030204" pitchFamily="18" charset="0"/>
                <a:ea typeface="Cambria" panose="02040503050406030204" pitchFamily="18" charset="0"/>
              </a:rPr>
              <a:t>Backend:</a:t>
            </a:r>
            <a:endParaRPr lang="en-IN" sz="1800"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IN" sz="1800" dirty="0">
                <a:latin typeface="Cambria" panose="02040503050406030204" pitchFamily="18" charset="0"/>
                <a:ea typeface="Cambria" panose="02040503050406030204" pitchFamily="18" charset="0"/>
              </a:rPr>
              <a:t>Developed using </a:t>
            </a:r>
            <a:r>
              <a:rPr lang="en-IN" sz="1800" b="1" dirty="0">
                <a:latin typeface="Cambria" panose="02040503050406030204" pitchFamily="18" charset="0"/>
                <a:ea typeface="Cambria" panose="02040503050406030204" pitchFamily="18" charset="0"/>
              </a:rPr>
              <a:t>Flask</a:t>
            </a:r>
            <a:r>
              <a:rPr lang="en-IN" sz="1800" dirty="0">
                <a:latin typeface="Cambria" panose="02040503050406030204" pitchFamily="18" charset="0"/>
                <a:ea typeface="Cambria" panose="02040503050406030204" pitchFamily="18" charset="0"/>
              </a:rPr>
              <a:t> (Python framework)</a:t>
            </a:r>
          </a:p>
          <a:p>
            <a:pPr marL="285750" indent="-285750">
              <a:buFont typeface="Arial" panose="020B0604020202020204" pitchFamily="34" charset="0"/>
              <a:buChar char="•"/>
            </a:pPr>
            <a:r>
              <a:rPr lang="en-IN" sz="1800" dirty="0">
                <a:latin typeface="Cambria" panose="02040503050406030204" pitchFamily="18" charset="0"/>
                <a:ea typeface="Cambria" panose="02040503050406030204" pitchFamily="18" charset="0"/>
              </a:rPr>
              <a:t>Handles </a:t>
            </a:r>
            <a:r>
              <a:rPr lang="en-IN" sz="1800" b="1" dirty="0">
                <a:latin typeface="Cambria" panose="02040503050406030204" pitchFamily="18" charset="0"/>
                <a:ea typeface="Cambria" panose="02040503050406030204" pitchFamily="18" charset="0"/>
              </a:rPr>
              <a:t>RESTful APIs</a:t>
            </a:r>
            <a:r>
              <a:rPr lang="en-IN" sz="1800" dirty="0">
                <a:latin typeface="Cambria" panose="02040503050406030204" pitchFamily="18" charset="0"/>
                <a:ea typeface="Cambria" panose="02040503050406030204" pitchFamily="18" charset="0"/>
              </a:rPr>
              <a:t>, authentication, and data processing</a:t>
            </a:r>
          </a:p>
          <a:p>
            <a:pPr marL="285750" indent="-285750">
              <a:buFont typeface="Arial" panose="020B0604020202020204" pitchFamily="34" charset="0"/>
              <a:buChar char="•"/>
            </a:pPr>
            <a:r>
              <a:rPr lang="en-IN" sz="1800" dirty="0">
                <a:latin typeface="Cambria" panose="02040503050406030204" pitchFamily="18" charset="0"/>
                <a:ea typeface="Cambria" panose="02040503050406030204" pitchFamily="18" charset="0"/>
              </a:rPr>
              <a:t>Connected with </a:t>
            </a:r>
            <a:r>
              <a:rPr lang="en-IN" sz="1800" b="1" dirty="0">
                <a:latin typeface="Cambria" panose="02040503050406030204" pitchFamily="18" charset="0"/>
                <a:ea typeface="Cambria" panose="02040503050406030204" pitchFamily="18" charset="0"/>
              </a:rPr>
              <a:t>MongoDB</a:t>
            </a:r>
            <a:r>
              <a:rPr lang="en-IN" sz="1800" dirty="0">
                <a:latin typeface="Cambria" panose="02040503050406030204" pitchFamily="18" charset="0"/>
                <a:ea typeface="Cambria" panose="02040503050406030204" pitchFamily="18" charset="0"/>
              </a:rPr>
              <a:t> for data storage and retrieval</a:t>
            </a:r>
          </a:p>
          <a:p>
            <a:pPr marL="285750" indent="-285750">
              <a:buFont typeface="Arial" panose="020B0604020202020204" pitchFamily="34" charset="0"/>
              <a:buChar char="•"/>
            </a:pPr>
            <a:endParaRPr lang="en-IN" sz="1800" b="1"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IN" sz="1800" b="1" dirty="0">
                <a:latin typeface="Cambria" panose="02040503050406030204" pitchFamily="18" charset="0"/>
                <a:ea typeface="Cambria" panose="02040503050406030204" pitchFamily="18" charset="0"/>
              </a:rPr>
              <a:t>Database:</a:t>
            </a:r>
            <a:endParaRPr lang="en-IN" sz="1800"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IN" sz="1800" b="1" dirty="0">
                <a:latin typeface="Cambria" panose="02040503050406030204" pitchFamily="18" charset="0"/>
                <a:ea typeface="Cambria" panose="02040503050406030204" pitchFamily="18" charset="0"/>
              </a:rPr>
              <a:t>MongoDB</a:t>
            </a:r>
            <a:r>
              <a:rPr lang="en-IN" sz="1800" dirty="0">
                <a:latin typeface="Cambria" panose="02040503050406030204" pitchFamily="18" charset="0"/>
                <a:ea typeface="Cambria" panose="02040503050406030204" pitchFamily="18" charset="0"/>
              </a:rPr>
              <a:t> stores customer, product, and invoice information</a:t>
            </a:r>
          </a:p>
          <a:p>
            <a:pPr marL="285750" indent="-285750">
              <a:buFont typeface="Arial" panose="020B0604020202020204" pitchFamily="34" charset="0"/>
              <a:buChar char="•"/>
            </a:pPr>
            <a:r>
              <a:rPr lang="en-IN" sz="1800" dirty="0">
                <a:latin typeface="Cambria" panose="02040503050406030204" pitchFamily="18" charset="0"/>
                <a:ea typeface="Cambria" panose="02040503050406030204" pitchFamily="18" charset="0"/>
              </a:rPr>
              <a:t>Provides scalability and quick access to records</a:t>
            </a:r>
          </a:p>
          <a:p>
            <a:endParaRPr lang="en-IN" sz="1800" dirty="0">
              <a:latin typeface="Cambria" panose="02040503050406030204" pitchFamily="18" charset="0"/>
              <a:ea typeface="Cambria" panose="02040503050406030204" pitchFamily="18" charset="0"/>
            </a:endParaRPr>
          </a:p>
          <a:p>
            <a:r>
              <a:rPr lang="en-IN" sz="1800" b="1" dirty="0">
                <a:latin typeface="Cambria" panose="02040503050406030204" pitchFamily="18" charset="0"/>
                <a:ea typeface="Cambria" panose="02040503050406030204" pitchFamily="18" charset="0"/>
              </a:rPr>
              <a:t>Tools &amp; Design:</a:t>
            </a:r>
            <a:endParaRPr lang="en-IN" sz="1800"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IN" sz="1800" b="1" dirty="0">
                <a:latin typeface="Cambria" panose="02040503050406030204" pitchFamily="18" charset="0"/>
                <a:ea typeface="Cambria" panose="02040503050406030204" pitchFamily="18" charset="0"/>
              </a:rPr>
              <a:t>VS Code</a:t>
            </a:r>
            <a:r>
              <a:rPr lang="en-IN" sz="1800" dirty="0">
                <a:latin typeface="Cambria" panose="02040503050406030204" pitchFamily="18" charset="0"/>
                <a:ea typeface="Cambria" panose="02040503050406030204" pitchFamily="18" charset="0"/>
              </a:rPr>
              <a:t> → Development and debugging</a:t>
            </a:r>
          </a:p>
          <a:p>
            <a:pPr marL="285750" indent="-285750">
              <a:buFont typeface="Arial" panose="020B0604020202020204" pitchFamily="34" charset="0"/>
              <a:buChar char="•"/>
            </a:pPr>
            <a:r>
              <a:rPr lang="en-IN" sz="1800" b="1" dirty="0">
                <a:latin typeface="Cambria" panose="02040503050406030204" pitchFamily="18" charset="0"/>
                <a:ea typeface="Cambria" panose="02040503050406030204" pitchFamily="18" charset="0"/>
              </a:rPr>
              <a:t>GitHub</a:t>
            </a:r>
            <a:r>
              <a:rPr lang="en-IN" sz="1800" dirty="0">
                <a:latin typeface="Cambria" panose="02040503050406030204" pitchFamily="18" charset="0"/>
                <a:ea typeface="Cambria" panose="02040503050406030204" pitchFamily="18" charset="0"/>
              </a:rPr>
              <a:t> → Version control and collaboration</a:t>
            </a:r>
          </a:p>
          <a:p>
            <a:pPr marL="285750" indent="-285750">
              <a:buFont typeface="Arial" panose="020B0604020202020204" pitchFamily="34" charset="0"/>
              <a:buChar char="•"/>
            </a:pPr>
            <a:r>
              <a:rPr lang="en-IN" sz="1800" b="1" dirty="0">
                <a:latin typeface="Cambria" panose="02040503050406030204" pitchFamily="18" charset="0"/>
                <a:ea typeface="Cambria" panose="02040503050406030204" pitchFamily="18" charset="0"/>
              </a:rPr>
              <a:t>Postman</a:t>
            </a:r>
            <a:r>
              <a:rPr lang="en-IN" sz="1800" dirty="0">
                <a:latin typeface="Cambria" panose="02040503050406030204" pitchFamily="18" charset="0"/>
                <a:ea typeface="Cambria" panose="02040503050406030204" pitchFamily="18" charset="0"/>
              </a:rPr>
              <a:t> → API Testing</a:t>
            </a:r>
            <a:endParaRPr lang="en-IN" sz="1800" b="1" dirty="0">
              <a:latin typeface="Cambria" panose="02040503050406030204" pitchFamily="18" charset="0"/>
              <a:ea typeface="Cambria" panose="020405030504060302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88888"/>
              </a:buClr>
              <a:buSzPts val="1200"/>
              <a:buFont typeface="Calibri"/>
              <a:buNone/>
            </a:pPr>
            <a:fld id="{00000000-1234-1234-1234-123412341234}" type="slidenum">
              <a:rPr lang="en-US" sz="1200" b="0" i="0" u="none" strike="noStrike" cap="none">
                <a:solidFill>
                  <a:srgbClr val="888888"/>
                </a:solidFill>
                <a:latin typeface="Calibri"/>
                <a:ea typeface="Calibri"/>
                <a:cs typeface="Calibri"/>
                <a:sym typeface="Calibri"/>
              </a:rPr>
              <a:t>5</a:t>
            </a:fld>
            <a:endParaRPr sz="1200" b="0" i="0" u="none" strike="noStrike" cap="none">
              <a:solidFill>
                <a:srgbClr val="888888"/>
              </a:solidFill>
              <a:latin typeface="Calibri"/>
              <a:ea typeface="Calibri"/>
              <a:cs typeface="Calibri"/>
              <a:sym typeface="Calibri"/>
            </a:endParaRPr>
          </a:p>
        </p:txBody>
      </p:sp>
      <p:sp>
        <p:nvSpPr>
          <p:cNvPr id="131" name="Google Shape;131;p19"/>
          <p:cNvSpPr txBox="1"/>
          <p:nvPr/>
        </p:nvSpPr>
        <p:spPr>
          <a:xfrm>
            <a:off x="1058100" y="450043"/>
            <a:ext cx="10075800" cy="443198"/>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1800"/>
              <a:buFont typeface="Arial"/>
              <a:buNone/>
            </a:pPr>
            <a:r>
              <a:rPr lang="en-US" sz="3200" b="1" i="0" u="none" strike="noStrike" cap="none" dirty="0">
                <a:solidFill>
                  <a:srgbClr val="002060"/>
                </a:solidFill>
                <a:latin typeface="Helvetica Neue"/>
                <a:ea typeface="Helvetica Neue"/>
                <a:cs typeface="Helvetica Neue"/>
                <a:sym typeface="Helvetica Neue"/>
              </a:rPr>
              <a:t>Challenges Faced during development if Any</a:t>
            </a:r>
            <a:endParaRPr sz="3200" b="1" i="0" u="none" strike="noStrike" cap="none" dirty="0">
              <a:solidFill>
                <a:srgbClr val="002060"/>
              </a:solidFill>
              <a:latin typeface="Helvetica Neue"/>
              <a:ea typeface="Helvetica Neue"/>
              <a:cs typeface="Helvetica Neue"/>
              <a:sym typeface="Helvetica Neue"/>
            </a:endParaRPr>
          </a:p>
        </p:txBody>
      </p:sp>
      <p:sp>
        <p:nvSpPr>
          <p:cNvPr id="132" name="Google Shape;132;p19"/>
          <p:cNvSpPr txBox="1"/>
          <p:nvPr/>
        </p:nvSpPr>
        <p:spPr>
          <a:xfrm>
            <a:off x="549320" y="1268250"/>
            <a:ext cx="10177500" cy="43215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US" sz="2200" b="1" dirty="0">
                <a:solidFill>
                  <a:schemeClr val="dk1"/>
                </a:solidFill>
                <a:latin typeface="Cambria" panose="02040503050406030204" pitchFamily="18" charset="0"/>
                <a:ea typeface="Cambria" panose="02040503050406030204" pitchFamily="18" charset="0"/>
                <a:cs typeface="Calibri"/>
                <a:sym typeface="Calibri"/>
              </a:rPr>
              <a:t>Challenges Faced:</a:t>
            </a:r>
            <a:endParaRPr sz="2200" b="1" dirty="0">
              <a:solidFill>
                <a:schemeClr val="dk1"/>
              </a:solidFill>
              <a:latin typeface="Cambria" panose="02040503050406030204" pitchFamily="18" charset="0"/>
              <a:ea typeface="Cambria" panose="02040503050406030204" pitchFamily="18" charset="0"/>
              <a:cs typeface="Calibri"/>
              <a:sym typeface="Calibri"/>
            </a:endParaRPr>
          </a:p>
          <a:p>
            <a:pPr marL="0" lvl="0" indent="0" algn="just" rtl="0">
              <a:spcBef>
                <a:spcPts val="0"/>
              </a:spcBef>
              <a:spcAft>
                <a:spcPts val="0"/>
              </a:spcAft>
              <a:buNone/>
            </a:pPr>
            <a:r>
              <a:rPr lang="en-IN" sz="1800" dirty="0">
                <a:solidFill>
                  <a:schemeClr val="dk1"/>
                </a:solidFill>
                <a:latin typeface="Cambria" panose="02040503050406030204" pitchFamily="18" charset="0"/>
                <a:ea typeface="Cambria" panose="02040503050406030204" pitchFamily="18" charset="0"/>
                <a:cs typeface="Calibri"/>
                <a:sym typeface="Calibri"/>
              </a:rPr>
              <a:t> </a:t>
            </a:r>
          </a:p>
          <a:p>
            <a:pPr marL="0" lvl="0" indent="0" algn="just" rtl="0">
              <a:spcBef>
                <a:spcPts val="0"/>
              </a:spcBef>
              <a:spcAft>
                <a:spcPts val="0"/>
              </a:spcAft>
              <a:buNone/>
            </a:pPr>
            <a:endParaRPr sz="1800" dirty="0">
              <a:solidFill>
                <a:schemeClr val="dk1"/>
              </a:solidFill>
              <a:latin typeface="Cambria" panose="02040503050406030204" pitchFamily="18" charset="0"/>
              <a:ea typeface="Cambria" panose="02040503050406030204" pitchFamily="18" charset="0"/>
              <a:cs typeface="Calibri"/>
              <a:sym typeface="Calibri"/>
            </a:endParaRPr>
          </a:p>
          <a:p>
            <a:pPr marL="0" lvl="0" indent="0" algn="just" rtl="0">
              <a:spcBef>
                <a:spcPts val="0"/>
              </a:spcBef>
              <a:spcAft>
                <a:spcPts val="0"/>
              </a:spcAft>
              <a:buNone/>
            </a:pPr>
            <a:endParaRPr lang="en-US" sz="1800" dirty="0">
              <a:solidFill>
                <a:schemeClr val="dk1"/>
              </a:solidFill>
              <a:latin typeface="Cambria" panose="02040503050406030204" pitchFamily="18" charset="0"/>
              <a:ea typeface="Cambria" panose="02040503050406030204" pitchFamily="18" charset="0"/>
              <a:cs typeface="Calibri"/>
              <a:sym typeface="Calibri"/>
            </a:endParaRPr>
          </a:p>
          <a:p>
            <a:pPr marL="0" lvl="0" indent="0" algn="just" rtl="0">
              <a:spcBef>
                <a:spcPts val="0"/>
              </a:spcBef>
              <a:spcAft>
                <a:spcPts val="0"/>
              </a:spcAft>
              <a:buNone/>
            </a:pPr>
            <a:endParaRPr lang="en-US" sz="1800" dirty="0">
              <a:solidFill>
                <a:schemeClr val="dk1"/>
              </a:solidFill>
              <a:latin typeface="Cambria" panose="02040503050406030204" pitchFamily="18" charset="0"/>
              <a:ea typeface="Cambria" panose="02040503050406030204" pitchFamily="18" charset="0"/>
              <a:cs typeface="Calibri"/>
              <a:sym typeface="Calibri"/>
            </a:endParaRPr>
          </a:p>
          <a:p>
            <a:pPr marL="0" lvl="0" indent="0" algn="just" rtl="0">
              <a:spcBef>
                <a:spcPts val="0"/>
              </a:spcBef>
              <a:spcAft>
                <a:spcPts val="0"/>
              </a:spcAft>
              <a:buNone/>
            </a:pPr>
            <a:endParaRPr lang="en-US" sz="1800" dirty="0">
              <a:solidFill>
                <a:schemeClr val="dk1"/>
              </a:solidFill>
              <a:latin typeface="Cambria" panose="02040503050406030204" pitchFamily="18" charset="0"/>
              <a:ea typeface="Cambria" panose="02040503050406030204" pitchFamily="18" charset="0"/>
              <a:cs typeface="Calibri"/>
              <a:sym typeface="Calibri"/>
            </a:endParaRPr>
          </a:p>
          <a:p>
            <a:pPr marL="0" lvl="0" indent="0" algn="just" rtl="0">
              <a:spcBef>
                <a:spcPts val="0"/>
              </a:spcBef>
              <a:spcAft>
                <a:spcPts val="0"/>
              </a:spcAft>
              <a:buNone/>
            </a:pPr>
            <a:endParaRPr lang="en-US" sz="1800" dirty="0">
              <a:solidFill>
                <a:schemeClr val="dk1"/>
              </a:solidFill>
              <a:latin typeface="Cambria" panose="02040503050406030204" pitchFamily="18" charset="0"/>
              <a:ea typeface="Cambria" panose="02040503050406030204" pitchFamily="18" charset="0"/>
              <a:cs typeface="Calibri"/>
              <a:sym typeface="Calibri"/>
            </a:endParaRPr>
          </a:p>
          <a:p>
            <a:pPr marL="0" lvl="0" indent="0" algn="just" rtl="0">
              <a:spcBef>
                <a:spcPts val="0"/>
              </a:spcBef>
              <a:spcAft>
                <a:spcPts val="0"/>
              </a:spcAft>
              <a:buNone/>
            </a:pPr>
            <a:endParaRPr lang="en-US" sz="1800" dirty="0">
              <a:solidFill>
                <a:schemeClr val="dk1"/>
              </a:solidFill>
              <a:latin typeface="Cambria" panose="02040503050406030204" pitchFamily="18" charset="0"/>
              <a:ea typeface="Cambria" panose="02040503050406030204" pitchFamily="18" charset="0"/>
              <a:cs typeface="Calibri"/>
              <a:sym typeface="Calibri"/>
            </a:endParaRPr>
          </a:p>
          <a:p>
            <a:pPr marL="0" lvl="0" indent="0" algn="just" rtl="0">
              <a:spcBef>
                <a:spcPts val="0"/>
              </a:spcBef>
              <a:spcAft>
                <a:spcPts val="0"/>
              </a:spcAft>
              <a:buNone/>
            </a:pPr>
            <a:endParaRPr lang="en-US" sz="1800" dirty="0">
              <a:solidFill>
                <a:schemeClr val="dk1"/>
              </a:solidFill>
              <a:latin typeface="Cambria" panose="02040503050406030204" pitchFamily="18" charset="0"/>
              <a:ea typeface="Cambria" panose="02040503050406030204" pitchFamily="18" charset="0"/>
              <a:cs typeface="Calibri"/>
              <a:sym typeface="Calibri"/>
            </a:endParaRPr>
          </a:p>
          <a:p>
            <a:pPr marL="0" lvl="0" indent="0" algn="just" rtl="0">
              <a:spcBef>
                <a:spcPts val="0"/>
              </a:spcBef>
              <a:spcAft>
                <a:spcPts val="0"/>
              </a:spcAft>
              <a:buNone/>
            </a:pPr>
            <a:endParaRPr lang="en-US" sz="1800" dirty="0">
              <a:solidFill>
                <a:schemeClr val="dk1"/>
              </a:solidFill>
              <a:latin typeface="Cambria" panose="02040503050406030204" pitchFamily="18" charset="0"/>
              <a:ea typeface="Cambria" panose="02040503050406030204" pitchFamily="18" charset="0"/>
              <a:cs typeface="Calibri"/>
              <a:sym typeface="Calibri"/>
            </a:endParaRPr>
          </a:p>
          <a:p>
            <a:pPr marL="0" lvl="0" indent="0" algn="just" rtl="0">
              <a:spcBef>
                <a:spcPts val="0"/>
              </a:spcBef>
              <a:spcAft>
                <a:spcPts val="0"/>
              </a:spcAft>
              <a:buNone/>
            </a:pPr>
            <a:endParaRPr lang="en-US" sz="1800" dirty="0">
              <a:solidFill>
                <a:schemeClr val="dk1"/>
              </a:solidFill>
              <a:latin typeface="Cambria" panose="02040503050406030204" pitchFamily="18" charset="0"/>
              <a:ea typeface="Cambria" panose="02040503050406030204" pitchFamily="18" charset="0"/>
              <a:cs typeface="Calibri"/>
              <a:sym typeface="Calibri"/>
            </a:endParaRPr>
          </a:p>
          <a:p>
            <a:pPr lvl="0" algn="just"/>
            <a:endParaRPr lang="en-US" sz="1800" dirty="0">
              <a:solidFill>
                <a:schemeClr val="dk1"/>
              </a:solidFill>
              <a:latin typeface="Cambria" panose="02040503050406030204" pitchFamily="18" charset="0"/>
              <a:ea typeface="Cambria" panose="02040503050406030204" pitchFamily="18" charset="0"/>
              <a:cs typeface="Calibri"/>
              <a:sym typeface="Calibri"/>
            </a:endParaRPr>
          </a:p>
          <a:p>
            <a:pPr lvl="0" algn="just"/>
            <a:r>
              <a:rPr lang="en-US" sz="2000" dirty="0">
                <a:latin typeface="Cambria" panose="02040503050406030204" pitchFamily="18" charset="0"/>
                <a:ea typeface="Cambria" panose="02040503050406030204" pitchFamily="18" charset="0"/>
              </a:rPr>
              <a:t>These challenges were resolved through iterative testing, clear communication between frontend and backend, implementation of validation and error handling, and adopting agile development with regular feedback cycles.</a:t>
            </a:r>
            <a:endParaRPr sz="2000" dirty="0">
              <a:solidFill>
                <a:schemeClr val="dk1"/>
              </a:solidFill>
              <a:latin typeface="Cambria" panose="02040503050406030204" pitchFamily="18" charset="0"/>
              <a:ea typeface="Cambria" panose="02040503050406030204" pitchFamily="18" charset="0"/>
              <a:cs typeface="Calibri"/>
              <a:sym typeface="Calibri"/>
            </a:endParaRPr>
          </a:p>
        </p:txBody>
      </p:sp>
      <p:sp>
        <p:nvSpPr>
          <p:cNvPr id="8" name="Rectangle 7">
            <a:extLst>
              <a:ext uri="{FF2B5EF4-FFF2-40B4-BE49-F238E27FC236}">
                <a16:creationId xmlns:a16="http://schemas.microsoft.com/office/drawing/2014/main" id="{7017C9FE-8A0D-1240-B30D-2127B6D39F87}"/>
              </a:ext>
            </a:extLst>
          </p:cNvPr>
          <p:cNvSpPr>
            <a:spLocks noChangeArrowheads="1"/>
          </p:cNvSpPr>
          <p:nvPr/>
        </p:nvSpPr>
        <p:spPr bwMode="auto">
          <a:xfrm>
            <a:off x="549320" y="1841557"/>
            <a:ext cx="1099166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Ø"/>
            </a:pPr>
            <a:r>
              <a:rPr lang="en-US" sz="1800" dirty="0">
                <a:latin typeface="Cambria" panose="02040503050406030204" pitchFamily="18" charset="0"/>
                <a:ea typeface="Cambria" panose="02040503050406030204" pitchFamily="18" charset="0"/>
              </a:rPr>
              <a:t>Ensuring smooth communication between frontend (React) and backend (Flask) with proper CORS setup.</a:t>
            </a:r>
          </a:p>
          <a:p>
            <a:pPr marL="342900" indent="-342900">
              <a:buFont typeface="Wingdings" panose="05000000000000000000" pitchFamily="2" charset="2"/>
              <a:buChar char="Ø"/>
            </a:pPr>
            <a:r>
              <a:rPr lang="en-US" sz="1800" dirty="0">
                <a:latin typeface="Cambria" panose="02040503050406030204" pitchFamily="18" charset="0"/>
                <a:ea typeface="Cambria" panose="02040503050406030204" pitchFamily="18" charset="0"/>
              </a:rPr>
              <a:t>Debugging 404 errors or failed API requests due to incorrect endpoints or server configuration.</a:t>
            </a:r>
          </a:p>
          <a:p>
            <a:pPr marL="342900" indent="-342900">
              <a:buFont typeface="Wingdings" panose="05000000000000000000" pitchFamily="2" charset="2"/>
              <a:buChar char="Ø"/>
            </a:pPr>
            <a:r>
              <a:rPr lang="en-US" sz="1800" dirty="0">
                <a:latin typeface="Cambria" panose="02040503050406030204" pitchFamily="18" charset="0"/>
                <a:ea typeface="Cambria" panose="02040503050406030204" pitchFamily="18" charset="0"/>
              </a:rPr>
              <a:t>Managing complex state and asynchronous data flow in React components.</a:t>
            </a:r>
          </a:p>
          <a:p>
            <a:pPr marL="342900" indent="-342900">
              <a:buFont typeface="Wingdings" panose="05000000000000000000" pitchFamily="2" charset="2"/>
              <a:buChar char="Ø"/>
            </a:pPr>
            <a:r>
              <a:rPr lang="en-US" sz="1800" dirty="0">
                <a:latin typeface="Cambria" panose="02040503050406030204" pitchFamily="18" charset="0"/>
                <a:ea typeface="Cambria" panose="02040503050406030204" pitchFamily="18" charset="0"/>
              </a:rPr>
              <a:t>Handling form validation and error messages across login, customer, product, and invoice pages.</a:t>
            </a:r>
          </a:p>
          <a:p>
            <a:pPr marL="342900" indent="-342900">
              <a:buFont typeface="Wingdings" panose="05000000000000000000" pitchFamily="2" charset="2"/>
              <a:buChar char="Ø"/>
            </a:pPr>
            <a:r>
              <a:rPr lang="en-US" sz="1800" dirty="0">
                <a:latin typeface="Cambria" panose="02040503050406030204" pitchFamily="18" charset="0"/>
                <a:ea typeface="Cambria" panose="02040503050406030204" pitchFamily="18" charset="0"/>
              </a:rPr>
              <a:t>Implementing secure user authentication and protecting API routes in Flask.</a:t>
            </a:r>
          </a:p>
          <a:p>
            <a:pPr marL="342900" indent="-342900">
              <a:buFont typeface="Wingdings" panose="05000000000000000000" pitchFamily="2" charset="2"/>
              <a:buChar char="Ø"/>
            </a:pPr>
            <a:r>
              <a:rPr lang="en-US" sz="1800" dirty="0">
                <a:latin typeface="Cambria" panose="02040503050406030204" pitchFamily="18" charset="0"/>
                <a:ea typeface="Cambria" panose="02040503050406030204" pitchFamily="18" charset="0"/>
              </a:rPr>
              <a:t>Structuring and optimizing MongoDB queries for reliable data management.</a:t>
            </a:r>
          </a:p>
          <a:p>
            <a:pPr marL="342900" indent="-342900">
              <a:buFont typeface="Wingdings" panose="05000000000000000000" pitchFamily="2" charset="2"/>
              <a:buChar char="Ø"/>
            </a:pPr>
            <a:r>
              <a:rPr lang="en-US" sz="1800" dirty="0">
                <a:latin typeface="Cambria" panose="02040503050406030204" pitchFamily="18" charset="0"/>
                <a:ea typeface="Cambria" panose="02040503050406030204" pitchFamily="18" charset="0"/>
              </a:rPr>
              <a:t>Integrating dynamic styling and layout with Bootstrap and custom CSS.</a:t>
            </a:r>
          </a:p>
          <a:p>
            <a:pPr marL="342900" indent="-342900">
              <a:buFont typeface="Wingdings" panose="05000000000000000000" pitchFamily="2" charset="2"/>
              <a:buChar char="Ø"/>
            </a:pPr>
            <a:r>
              <a:rPr lang="en-US" sz="1800" dirty="0">
                <a:latin typeface="Cambria" panose="02040503050406030204" pitchFamily="18" charset="0"/>
                <a:ea typeface="Cambria" panose="02040503050406030204" pitchFamily="18" charset="0"/>
              </a:rPr>
              <a:t>Addressing deployment issues, environment configuration (using .env), and cross-platform compatibility.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88888"/>
              </a:buClr>
              <a:buSzPts val="1200"/>
              <a:buFont typeface="Calibri"/>
              <a:buNone/>
            </a:pPr>
            <a:fld id="{00000000-1234-1234-1234-123412341234}" type="slidenum">
              <a:rPr lang="en-US" sz="1200" b="0" i="0" u="none" strike="noStrike" cap="none">
                <a:solidFill>
                  <a:srgbClr val="888888"/>
                </a:solidFill>
                <a:latin typeface="Calibri"/>
                <a:ea typeface="Calibri"/>
                <a:cs typeface="Calibri"/>
                <a:sym typeface="Calibri"/>
              </a:rPr>
              <a:t>6</a:t>
            </a:fld>
            <a:endParaRPr sz="1200" b="0" i="0" u="none" strike="noStrike" cap="none">
              <a:solidFill>
                <a:srgbClr val="888888"/>
              </a:solidFill>
              <a:latin typeface="Calibri"/>
              <a:ea typeface="Calibri"/>
              <a:cs typeface="Calibri"/>
              <a:sym typeface="Calibri"/>
            </a:endParaRPr>
          </a:p>
        </p:txBody>
      </p:sp>
      <p:sp>
        <p:nvSpPr>
          <p:cNvPr id="139" name="Google Shape;139;p20"/>
          <p:cNvSpPr txBox="1"/>
          <p:nvPr/>
        </p:nvSpPr>
        <p:spPr>
          <a:xfrm>
            <a:off x="1192420" y="1249040"/>
            <a:ext cx="10334100" cy="41364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US" sz="2100" b="1" dirty="0">
                <a:solidFill>
                  <a:schemeClr val="dk1"/>
                </a:solidFill>
                <a:latin typeface="Calibri"/>
                <a:ea typeface="Calibri"/>
                <a:cs typeface="Calibri"/>
                <a:sym typeface="Calibri"/>
              </a:rPr>
              <a:t>Limitations</a:t>
            </a:r>
            <a:endParaRPr sz="2100" b="1" dirty="0">
              <a:solidFill>
                <a:schemeClr val="dk1"/>
              </a:solidFill>
              <a:latin typeface="Calibri"/>
              <a:ea typeface="Calibri"/>
              <a:cs typeface="Calibri"/>
              <a:sym typeface="Calibri"/>
            </a:endParaRPr>
          </a:p>
          <a:p>
            <a:pPr marL="285750" indent="-285750">
              <a:buFont typeface="Arial" panose="020B0604020202020204" pitchFamily="34" charset="0"/>
              <a:buChar char="•"/>
            </a:pPr>
            <a:r>
              <a:rPr lang="en-US" sz="1800" dirty="0">
                <a:latin typeface="Cambria" panose="02040503050406030204" pitchFamily="18" charset="0"/>
                <a:ea typeface="Cambria" panose="02040503050406030204" pitchFamily="18" charset="0"/>
              </a:rPr>
              <a:t>Limited scalability may arise with increasing data volume in MongoDB without further optimization.</a:t>
            </a:r>
          </a:p>
          <a:p>
            <a:pPr marL="285750" indent="-285750">
              <a:buFont typeface="Arial" panose="020B0604020202020204" pitchFamily="34" charset="0"/>
              <a:buChar char="•"/>
            </a:pPr>
            <a:r>
              <a:rPr lang="en-US" sz="1800" dirty="0">
                <a:latin typeface="Cambria" panose="02040503050406030204" pitchFamily="18" charset="0"/>
                <a:ea typeface="Cambria" panose="02040503050406030204" pitchFamily="18" charset="0"/>
              </a:rPr>
              <a:t>Basic authentication and session management might need enhancement for stronger security.</a:t>
            </a:r>
          </a:p>
          <a:p>
            <a:pPr marL="285750" indent="-285750">
              <a:buFont typeface="Arial" panose="020B0604020202020204" pitchFamily="34" charset="0"/>
              <a:buChar char="•"/>
            </a:pPr>
            <a:r>
              <a:rPr lang="en-US" sz="1800" dirty="0">
                <a:latin typeface="Cambria" panose="02040503050406030204" pitchFamily="18" charset="0"/>
                <a:ea typeface="Cambria" panose="02040503050406030204" pitchFamily="18" charset="0"/>
              </a:rPr>
              <a:t>UI design relies heavily on Bootstrap, which could limit customization flexibility.</a:t>
            </a:r>
          </a:p>
          <a:p>
            <a:pPr marL="285750" indent="-285750">
              <a:buFont typeface="Arial" panose="020B0604020202020204" pitchFamily="34" charset="0"/>
              <a:buChar char="•"/>
            </a:pPr>
            <a:r>
              <a:rPr lang="en-US" sz="1800" dirty="0">
                <a:latin typeface="Cambria" panose="02040503050406030204" pitchFamily="18" charset="0"/>
                <a:ea typeface="Cambria" panose="02040503050406030204" pitchFamily="18" charset="0"/>
              </a:rPr>
              <a:t>Deployment and environment-specific configurations could be better automated for smoother production rollout.</a:t>
            </a:r>
          </a:p>
          <a:p>
            <a:endParaRPr lang="en-US" sz="1800" dirty="0">
              <a:latin typeface="Cambria" panose="02040503050406030204" pitchFamily="18" charset="0"/>
              <a:ea typeface="Cambria" panose="02040503050406030204" pitchFamily="18" charset="0"/>
            </a:endParaRPr>
          </a:p>
          <a:p>
            <a:pPr marL="114300" lvl="0" algn="just" rtl="0">
              <a:spcBef>
                <a:spcPts val="0"/>
              </a:spcBef>
              <a:spcAft>
                <a:spcPts val="0"/>
              </a:spcAft>
              <a:buClr>
                <a:schemeClr val="dk1"/>
              </a:buClr>
              <a:buSzPts val="1800"/>
            </a:pPr>
            <a:endParaRPr sz="1800" dirty="0">
              <a:solidFill>
                <a:schemeClr val="dk1"/>
              </a:solidFill>
              <a:latin typeface="Calibri"/>
              <a:ea typeface="Calibri"/>
              <a:cs typeface="Calibri"/>
              <a:sym typeface="Calibri"/>
            </a:endParaRPr>
          </a:p>
          <a:p>
            <a:pPr marL="0" lvl="0" indent="0" algn="just" rtl="0">
              <a:spcBef>
                <a:spcPts val="0"/>
              </a:spcBef>
              <a:spcAft>
                <a:spcPts val="0"/>
              </a:spcAft>
              <a:buNone/>
            </a:pPr>
            <a:r>
              <a:rPr lang="en-US" sz="2100" b="1" dirty="0">
                <a:solidFill>
                  <a:schemeClr val="dk1"/>
                </a:solidFill>
                <a:latin typeface="Calibri"/>
                <a:ea typeface="Calibri"/>
                <a:cs typeface="Calibri"/>
                <a:sym typeface="Calibri"/>
              </a:rPr>
              <a:t>Future Scope</a:t>
            </a:r>
          </a:p>
          <a:p>
            <a:pPr marL="0" lvl="0" indent="0" algn="just" rtl="0">
              <a:spcBef>
                <a:spcPts val="0"/>
              </a:spcBef>
              <a:spcAft>
                <a:spcPts val="0"/>
              </a:spcAft>
              <a:buNone/>
            </a:pPr>
            <a:endParaRPr lang="en-US" sz="2100" b="1" dirty="0">
              <a:solidFill>
                <a:schemeClr val="dk1"/>
              </a:solidFill>
              <a:latin typeface="Calibri"/>
              <a:ea typeface="Calibri"/>
              <a:cs typeface="Calibri"/>
              <a:sym typeface="Calibri"/>
            </a:endParaRPr>
          </a:p>
          <a:p>
            <a:pPr marL="0" lvl="0" indent="0" algn="just" rtl="0">
              <a:spcBef>
                <a:spcPts val="0"/>
              </a:spcBef>
              <a:spcAft>
                <a:spcPts val="0"/>
              </a:spcAft>
              <a:buNone/>
            </a:pPr>
            <a:endParaRPr sz="2100" b="1" dirty="0">
              <a:solidFill>
                <a:schemeClr val="dk1"/>
              </a:solidFill>
              <a:latin typeface="Calibri"/>
              <a:ea typeface="Calibri"/>
              <a:cs typeface="Calibri"/>
              <a:sym typeface="Calibri"/>
            </a:endParaRPr>
          </a:p>
        </p:txBody>
      </p:sp>
      <p:sp>
        <p:nvSpPr>
          <p:cNvPr id="2" name="Rectangle 1">
            <a:extLst>
              <a:ext uri="{FF2B5EF4-FFF2-40B4-BE49-F238E27FC236}">
                <a16:creationId xmlns:a16="http://schemas.microsoft.com/office/drawing/2014/main" id="{18452483-5D2B-02F7-4989-684E7677C5F3}"/>
              </a:ext>
            </a:extLst>
          </p:cNvPr>
          <p:cNvSpPr>
            <a:spLocks noChangeArrowheads="1"/>
          </p:cNvSpPr>
          <p:nvPr/>
        </p:nvSpPr>
        <p:spPr bwMode="auto">
          <a:xfrm>
            <a:off x="1192420" y="3929597"/>
            <a:ext cx="833914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indent="-285750">
              <a:buFont typeface="Arial" panose="020B0604020202020204" pitchFamily="34" charset="0"/>
              <a:buChar char="•"/>
            </a:pPr>
            <a:r>
              <a:rPr lang="en-US" sz="1800" dirty="0">
                <a:latin typeface="Cambria" panose="02040503050406030204" pitchFamily="18" charset="0"/>
                <a:ea typeface="Cambria" panose="02040503050406030204" pitchFamily="18" charset="0"/>
              </a:rPr>
              <a:t>Implement advanced role-based access control for enhanced security.</a:t>
            </a:r>
          </a:p>
          <a:p>
            <a:pPr marL="285750" indent="-285750">
              <a:buFont typeface="Arial" panose="020B0604020202020204" pitchFamily="34" charset="0"/>
              <a:buChar char="•"/>
            </a:pPr>
            <a:r>
              <a:rPr lang="en-US" sz="1800" dirty="0">
                <a:latin typeface="Cambria" panose="02040503050406030204" pitchFamily="18" charset="0"/>
                <a:ea typeface="Cambria" panose="02040503050406030204" pitchFamily="18" charset="0"/>
              </a:rPr>
              <a:t>Integrate real-time notifications and alerts using </a:t>
            </a:r>
            <a:r>
              <a:rPr lang="en-US" sz="1800" dirty="0" err="1">
                <a:latin typeface="Cambria" panose="02040503050406030204" pitchFamily="18" charset="0"/>
                <a:ea typeface="Cambria" panose="02040503050406030204" pitchFamily="18" charset="0"/>
              </a:rPr>
              <a:t>WebSockets</a:t>
            </a:r>
            <a:r>
              <a:rPr lang="en-US" sz="1800" dirty="0">
                <a:latin typeface="Cambria" panose="02040503050406030204" pitchFamily="18" charset="0"/>
                <a:ea typeface="Cambria" panose="02040503050406030204" pitchFamily="18" charset="0"/>
              </a:rPr>
              <a:t>.</a:t>
            </a:r>
          </a:p>
          <a:p>
            <a:pPr marL="285750" indent="-285750">
              <a:buFont typeface="Arial" panose="020B0604020202020204" pitchFamily="34" charset="0"/>
              <a:buChar char="•"/>
            </a:pPr>
            <a:r>
              <a:rPr lang="en-US" sz="1800" dirty="0">
                <a:latin typeface="Cambria" panose="02040503050406030204" pitchFamily="18" charset="0"/>
                <a:ea typeface="Cambria" panose="02040503050406030204" pitchFamily="18" charset="0"/>
              </a:rPr>
              <a:t>Optimize database performance with indexing and caching strategies.</a:t>
            </a:r>
          </a:p>
          <a:p>
            <a:pPr marL="285750" indent="-285750">
              <a:buFont typeface="Arial" panose="020B0604020202020204" pitchFamily="34" charset="0"/>
              <a:buChar char="•"/>
            </a:pPr>
            <a:r>
              <a:rPr lang="en-US" sz="1800" dirty="0">
                <a:latin typeface="Cambria" panose="02040503050406030204" pitchFamily="18" charset="0"/>
                <a:ea typeface="Cambria" panose="02040503050406030204" pitchFamily="18" charset="0"/>
              </a:rPr>
              <a:t>Develop mobile-responsive UI or a dedicated mobile app for better accessibility.</a:t>
            </a:r>
          </a:p>
        </p:txBody>
      </p:sp>
      <p:sp>
        <p:nvSpPr>
          <p:cNvPr id="5" name="Google Shape;138;p20">
            <a:extLst>
              <a:ext uri="{FF2B5EF4-FFF2-40B4-BE49-F238E27FC236}">
                <a16:creationId xmlns:a16="http://schemas.microsoft.com/office/drawing/2014/main" id="{340B8EB0-4FDD-A0E3-A0B4-D8E8E403055E}"/>
              </a:ext>
            </a:extLst>
          </p:cNvPr>
          <p:cNvSpPr txBox="1"/>
          <p:nvPr/>
        </p:nvSpPr>
        <p:spPr>
          <a:xfrm>
            <a:off x="1425676" y="228444"/>
            <a:ext cx="9708223" cy="886397"/>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1800"/>
              <a:buFont typeface="Arial"/>
              <a:buNone/>
            </a:pPr>
            <a:r>
              <a:rPr lang="en-US" sz="3200" b="1" i="0" u="none" strike="noStrike" cap="none" dirty="0">
                <a:solidFill>
                  <a:srgbClr val="002060"/>
                </a:solidFill>
                <a:latin typeface="Helvetica Neue"/>
                <a:ea typeface="Helvetica Neue"/>
                <a:cs typeface="Helvetica Neue"/>
                <a:sym typeface="Helvetica Neue"/>
              </a:rPr>
              <a:t>Limitation and scope of the project with future projection extension</a:t>
            </a:r>
            <a:endParaRPr sz="3200" b="1" i="0" u="none" strike="noStrike" cap="none" dirty="0">
              <a:solidFill>
                <a:srgbClr val="002060"/>
              </a:solidFill>
              <a:latin typeface="Helvetica Neue"/>
              <a:ea typeface="Helvetica Neue"/>
              <a:cs typeface="Helvetica Neue"/>
              <a:sym typeface="Helvetica Neu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88888"/>
              </a:buClr>
              <a:buSzPts val="1200"/>
              <a:buFont typeface="Calibri"/>
              <a:buNone/>
            </a:pPr>
            <a:fld id="{00000000-1234-1234-1234-123412341234}" type="slidenum">
              <a:rPr lang="en-US" sz="1200" b="0" i="0" u="none" strike="noStrike" cap="none">
                <a:solidFill>
                  <a:srgbClr val="888888"/>
                </a:solidFill>
                <a:latin typeface="Calibri"/>
                <a:ea typeface="Calibri"/>
                <a:cs typeface="Calibri"/>
                <a:sym typeface="Calibri"/>
              </a:rPr>
              <a:t>7</a:t>
            </a:fld>
            <a:endParaRPr sz="1200" b="0" i="0" u="none" strike="noStrike" cap="none">
              <a:solidFill>
                <a:srgbClr val="888888"/>
              </a:solidFill>
              <a:latin typeface="Calibri"/>
              <a:ea typeface="Calibri"/>
              <a:cs typeface="Calibri"/>
              <a:sym typeface="Calibri"/>
            </a:endParaRPr>
          </a:p>
        </p:txBody>
      </p:sp>
      <p:sp>
        <p:nvSpPr>
          <p:cNvPr id="145" name="Google Shape;145;p21"/>
          <p:cNvSpPr txBox="1"/>
          <p:nvPr/>
        </p:nvSpPr>
        <p:spPr>
          <a:xfrm>
            <a:off x="1058100" y="450043"/>
            <a:ext cx="10075800" cy="443198"/>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1800"/>
              <a:buFont typeface="Arial"/>
              <a:buNone/>
            </a:pPr>
            <a:r>
              <a:rPr lang="en-US" sz="3200" b="1" i="0" u="none" strike="noStrike" cap="none">
                <a:solidFill>
                  <a:srgbClr val="002060"/>
                </a:solidFill>
                <a:latin typeface="Helvetica Neue"/>
                <a:ea typeface="Helvetica Neue"/>
                <a:cs typeface="Helvetica Neue"/>
                <a:sym typeface="Helvetica Neue"/>
              </a:rPr>
              <a:t>Working Demo</a:t>
            </a:r>
            <a:endParaRPr sz="3200" b="1" i="0" u="none" strike="noStrike" cap="none">
              <a:solidFill>
                <a:srgbClr val="002060"/>
              </a:solidFill>
              <a:latin typeface="Helvetica Neue"/>
              <a:ea typeface="Helvetica Neue"/>
              <a:cs typeface="Helvetica Neue"/>
              <a:sym typeface="Helvetica Neue"/>
            </a:endParaRPr>
          </a:p>
        </p:txBody>
      </p:sp>
      <p:pic>
        <p:nvPicPr>
          <p:cNvPr id="2" name="Picture 1">
            <a:extLst>
              <a:ext uri="{FF2B5EF4-FFF2-40B4-BE49-F238E27FC236}">
                <a16:creationId xmlns:a16="http://schemas.microsoft.com/office/drawing/2014/main" id="{6E4904AD-5097-4F4A-D8E4-4ED58163B685}"/>
              </a:ext>
            </a:extLst>
          </p:cNvPr>
          <p:cNvPicPr>
            <a:picLocks noChangeAspect="1"/>
          </p:cNvPicPr>
          <p:nvPr/>
        </p:nvPicPr>
        <p:blipFill>
          <a:blip r:embed="rId3"/>
          <a:stretch>
            <a:fillRect/>
          </a:stretch>
        </p:blipFill>
        <p:spPr>
          <a:xfrm>
            <a:off x="527819" y="1062575"/>
            <a:ext cx="5940636" cy="3340217"/>
          </a:xfrm>
          <a:prstGeom prst="rect">
            <a:avLst/>
          </a:prstGeom>
        </p:spPr>
      </p:pic>
      <p:pic>
        <p:nvPicPr>
          <p:cNvPr id="3" name="Picture 2">
            <a:extLst>
              <a:ext uri="{FF2B5EF4-FFF2-40B4-BE49-F238E27FC236}">
                <a16:creationId xmlns:a16="http://schemas.microsoft.com/office/drawing/2014/main" id="{095B65C5-88D2-1BAA-1ADD-189619412F03}"/>
              </a:ext>
            </a:extLst>
          </p:cNvPr>
          <p:cNvPicPr>
            <a:picLocks noChangeAspect="1"/>
          </p:cNvPicPr>
          <p:nvPr/>
        </p:nvPicPr>
        <p:blipFill>
          <a:blip r:embed="rId4"/>
          <a:stretch>
            <a:fillRect/>
          </a:stretch>
        </p:blipFill>
        <p:spPr>
          <a:xfrm>
            <a:off x="8196981" y="4054912"/>
            <a:ext cx="2662374" cy="2219513"/>
          </a:xfrm>
          <a:prstGeom prst="rect">
            <a:avLst/>
          </a:prstGeom>
        </p:spPr>
      </p:pic>
      <p:pic>
        <p:nvPicPr>
          <p:cNvPr id="4" name="Picture 3">
            <a:extLst>
              <a:ext uri="{FF2B5EF4-FFF2-40B4-BE49-F238E27FC236}">
                <a16:creationId xmlns:a16="http://schemas.microsoft.com/office/drawing/2014/main" id="{91026E4A-7085-689C-559D-8FB58C6A6F6E}"/>
              </a:ext>
            </a:extLst>
          </p:cNvPr>
          <p:cNvPicPr>
            <a:picLocks noChangeAspect="1"/>
          </p:cNvPicPr>
          <p:nvPr/>
        </p:nvPicPr>
        <p:blipFill>
          <a:blip r:embed="rId5"/>
          <a:stretch>
            <a:fillRect/>
          </a:stretch>
        </p:blipFill>
        <p:spPr>
          <a:xfrm>
            <a:off x="4431225" y="4668266"/>
            <a:ext cx="3558540" cy="1781175"/>
          </a:xfrm>
          <a:prstGeom prst="rect">
            <a:avLst/>
          </a:prstGeom>
        </p:spPr>
      </p:pic>
      <p:pic>
        <p:nvPicPr>
          <p:cNvPr id="5" name="Picture 4">
            <a:extLst>
              <a:ext uri="{FF2B5EF4-FFF2-40B4-BE49-F238E27FC236}">
                <a16:creationId xmlns:a16="http://schemas.microsoft.com/office/drawing/2014/main" id="{73AC7FDC-B4BA-D49F-BD12-E3202487B1CE}"/>
              </a:ext>
            </a:extLst>
          </p:cNvPr>
          <p:cNvPicPr>
            <a:picLocks noChangeAspect="1"/>
          </p:cNvPicPr>
          <p:nvPr/>
        </p:nvPicPr>
        <p:blipFill>
          <a:blip r:embed="rId6"/>
          <a:stretch>
            <a:fillRect/>
          </a:stretch>
        </p:blipFill>
        <p:spPr>
          <a:xfrm>
            <a:off x="527819" y="4668266"/>
            <a:ext cx="3558540" cy="1940451"/>
          </a:xfrm>
          <a:prstGeom prst="rect">
            <a:avLst/>
          </a:prstGeom>
        </p:spPr>
      </p:pic>
      <p:pic>
        <p:nvPicPr>
          <p:cNvPr id="6" name="Picture 5">
            <a:extLst>
              <a:ext uri="{FF2B5EF4-FFF2-40B4-BE49-F238E27FC236}">
                <a16:creationId xmlns:a16="http://schemas.microsoft.com/office/drawing/2014/main" id="{DC4C450E-F07A-C6F3-3278-756E0CB36448}"/>
              </a:ext>
            </a:extLst>
          </p:cNvPr>
          <p:cNvPicPr>
            <a:picLocks noChangeAspect="1"/>
          </p:cNvPicPr>
          <p:nvPr/>
        </p:nvPicPr>
        <p:blipFill>
          <a:blip r:embed="rId7"/>
          <a:stretch>
            <a:fillRect/>
          </a:stretch>
        </p:blipFill>
        <p:spPr>
          <a:xfrm>
            <a:off x="6788989" y="1158715"/>
            <a:ext cx="5032689" cy="281427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88888"/>
              </a:buClr>
              <a:buSzPts val="1200"/>
              <a:buFont typeface="Calibri"/>
              <a:buNone/>
            </a:pPr>
            <a:fld id="{00000000-1234-1234-1234-123412341234}" type="slidenum">
              <a:rPr lang="en-US" sz="1200" b="0" i="0" u="none" strike="noStrike" cap="none">
                <a:solidFill>
                  <a:srgbClr val="888888"/>
                </a:solidFill>
                <a:latin typeface="Calibri"/>
                <a:ea typeface="Calibri"/>
                <a:cs typeface="Calibri"/>
                <a:sym typeface="Calibri"/>
              </a:rPr>
              <a:t>8</a:t>
            </a:fld>
            <a:endParaRPr sz="1200" b="0" i="0" u="none" strike="noStrike" cap="none">
              <a:solidFill>
                <a:srgbClr val="888888"/>
              </a:solidFill>
              <a:latin typeface="Calibri"/>
              <a:ea typeface="Calibri"/>
              <a:cs typeface="Calibri"/>
              <a:sym typeface="Calibri"/>
            </a:endParaRPr>
          </a:p>
        </p:txBody>
      </p:sp>
      <p:sp>
        <p:nvSpPr>
          <p:cNvPr id="2" name="Google Shape;153;p22">
            <a:extLst>
              <a:ext uri="{FF2B5EF4-FFF2-40B4-BE49-F238E27FC236}">
                <a16:creationId xmlns:a16="http://schemas.microsoft.com/office/drawing/2014/main" id="{AF9FDA32-ECFB-21C9-EB38-66E252C84C53}"/>
              </a:ext>
            </a:extLst>
          </p:cNvPr>
          <p:cNvSpPr txBox="1"/>
          <p:nvPr/>
        </p:nvSpPr>
        <p:spPr>
          <a:xfrm>
            <a:off x="1058100" y="450043"/>
            <a:ext cx="10075800" cy="443198"/>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1800"/>
              <a:buFont typeface="Arial"/>
              <a:buNone/>
            </a:pPr>
            <a:r>
              <a:rPr lang="en-US" sz="3200" b="1" i="0" u="none" strike="noStrike" cap="none">
                <a:solidFill>
                  <a:srgbClr val="002060"/>
                </a:solidFill>
                <a:latin typeface="Helvetica Neue"/>
                <a:ea typeface="Helvetica Neue"/>
                <a:cs typeface="Helvetica Neue"/>
                <a:sym typeface="Helvetica Neue"/>
              </a:rPr>
              <a:t>Q/A</a:t>
            </a:r>
            <a:endParaRPr sz="3200" b="1" i="0" u="none" strike="noStrike" cap="none">
              <a:solidFill>
                <a:srgbClr val="002060"/>
              </a:solidFill>
              <a:latin typeface="Helvetica Neue"/>
              <a:ea typeface="Helvetica Neue"/>
              <a:cs typeface="Helvetica Neue"/>
              <a:sym typeface="Helvetica Neue"/>
            </a:endParaRPr>
          </a:p>
        </p:txBody>
      </p:sp>
      <p:pic>
        <p:nvPicPr>
          <p:cNvPr id="3" name="Google Shape;154;p22">
            <a:extLst>
              <a:ext uri="{FF2B5EF4-FFF2-40B4-BE49-F238E27FC236}">
                <a16:creationId xmlns:a16="http://schemas.microsoft.com/office/drawing/2014/main" id="{0AD3A345-D1AE-08C5-59AC-D2073D1738EE}"/>
              </a:ext>
            </a:extLst>
          </p:cNvPr>
          <p:cNvPicPr preferRelativeResize="0"/>
          <p:nvPr/>
        </p:nvPicPr>
        <p:blipFill>
          <a:blip r:embed="rId3">
            <a:alphaModFix/>
          </a:blip>
          <a:stretch>
            <a:fillRect/>
          </a:stretch>
        </p:blipFill>
        <p:spPr>
          <a:xfrm>
            <a:off x="152400" y="1360274"/>
            <a:ext cx="11887199" cy="3959380"/>
          </a:xfrm>
          <a:prstGeom prst="rect">
            <a:avLst/>
          </a:prstGeom>
          <a:noFill/>
          <a:ln>
            <a:noFill/>
          </a:ln>
        </p:spPr>
      </p:pic>
    </p:spTree>
  </p:cSld>
  <p:clrMapOvr>
    <a:masterClrMapping/>
  </p:clrMapOvr>
</p:sld>
</file>

<file path=ppt/theme/theme1.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TotalTime>
  <Words>746</Words>
  <Application>Microsoft Office PowerPoint</Application>
  <PresentationFormat>Widescreen</PresentationFormat>
  <Paragraphs>87</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Cambria</vt:lpstr>
      <vt:lpstr>Calibri</vt:lpstr>
      <vt:lpstr>Wingdings</vt:lpstr>
      <vt:lpstr>Helvetica Neue</vt:lpstr>
      <vt:lpstr>Arial</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Kumar Ujjawal</cp:lastModifiedBy>
  <cp:revision>3</cp:revision>
  <dcterms:modified xsi:type="dcterms:W3CDTF">2025-11-09T21:44:32Z</dcterms:modified>
</cp:coreProperties>
</file>